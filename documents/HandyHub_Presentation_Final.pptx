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73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9" d="100"/>
          <a:sy n="69" d="100"/>
        </p:scale>
        <p:origin x="5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653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23535"/>
            <a:ext cx="12188952" cy="1463040"/>
          </a:xfrm>
          <a:prstGeom prst="rect">
            <a:avLst/>
          </a:prstGeom>
          <a:solidFill>
            <a:srgbClr val="0F4A2E"/>
          </a:solidFill>
          <a:ln/>
        </p:spPr>
      </p:sp>
      <p:pic>
        <p:nvPicPr>
          <p:cNvPr id="6" name="Image 0" descr="/home/claude/handyhub/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2404872" cy="2715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12344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Connecting the People of Belhar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 Reliable Local Services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456432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CB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 Belhar. Building Belhar.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456432" y="3291840"/>
            <a:ext cx="5120640" cy="18288"/>
          </a:xfrm>
          <a:prstGeom prst="rect">
            <a:avLst/>
          </a:prstGeom>
          <a:solidFill>
            <a:srgbClr val="1E5B39"/>
          </a:solidFill>
          <a:ln/>
        </p:spPr>
      </p:sp>
      <p:sp>
        <p:nvSpPr>
          <p:cNvPr id="10" name="Text 7"/>
          <p:cNvSpPr/>
          <p:nvPr/>
        </p:nvSpPr>
        <p:spPr>
          <a:xfrm>
            <a:off x="3429000" y="32689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Andile Pamela Masina   ·   Olona Metia Williams   ·   Zahrah Vermaak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HANDYHUB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Community With </a:t>
            </a:r>
            <a:r>
              <a:rPr lang="en-US" sz="3000" b="1" dirty="0" smtClean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Skills and </a:t>
            </a:r>
            <a:r>
              <a:rPr lang="en-US" sz="30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Unmet Needs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Belhar is a </a:t>
            </a:r>
            <a:r>
              <a:rPr lang="en-US" sz="1450" dirty="0" smtClean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class </a:t>
            </a:r>
            <a:r>
              <a:rPr lang="en-US" sz="14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Town suburb where residents regularly need home </a:t>
            </a:r>
            <a:r>
              <a:rPr lang="en-US" sz="1450" dirty="0" smtClean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like plumbing</a:t>
            </a:r>
            <a:r>
              <a:rPr lang="en-US" sz="14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electrical work, carpentry, </a:t>
            </a:r>
            <a:r>
              <a:rPr lang="en-US" sz="1450" dirty="0" smtClean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 but </a:t>
            </a:r>
            <a:r>
              <a:rPr lang="en-US" sz="14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to find people they can trust. At the same time, skilled residents struggle to find consistent work.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66928" cy="566928"/>
          </a:xfrm>
          <a:prstGeom prst="ellipse">
            <a:avLst/>
          </a:prstGeom>
          <a:solidFill>
            <a:srgbClr val="0B3B25"/>
          </a:solidFill>
          <a:ln/>
        </p:spPr>
      </p:sp>
      <p:pic>
        <p:nvPicPr>
          <p:cNvPr id="7" name="Image 0" descr="/home/claude/handyhub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2908341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8072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25880" y="312724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needing repairs, skilled tradespeople, and unemployed residents with practical skills.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005072"/>
            <a:ext cx="566928" cy="566928"/>
          </a:xfrm>
          <a:prstGeom prst="ellipse">
            <a:avLst/>
          </a:prstGeom>
          <a:solidFill>
            <a:srgbClr val="0B3B25"/>
          </a:solidFill>
          <a:ln/>
        </p:spPr>
      </p:sp>
      <p:pic>
        <p:nvPicPr>
          <p:cNvPr id="11" name="Image 1" descr="/home/claude/handyhub/icons/calend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41" y="407877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977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325880" y="42976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 smtClean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Constantly, home </a:t>
            </a:r>
            <a:r>
              <a:rPr lang="en-US" sz="12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is ongoing, and today's search method (word of mouth) is slow and inconsistent.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5175504"/>
            <a:ext cx="566928" cy="566928"/>
          </a:xfrm>
          <a:prstGeom prst="ellipse">
            <a:avLst/>
          </a:prstGeom>
          <a:solidFill>
            <a:srgbClr val="0B3B25"/>
          </a:solidFill>
          <a:ln/>
        </p:spPr>
      </p:sp>
      <p:pic>
        <p:nvPicPr>
          <p:cNvPr id="15" name="Image 2" descr="/home/claude/handyhub/icons/bulb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41" y="5249205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51480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325880" y="546811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platform exists, so residents risk hiring unreliable workers, while unemployment stays high despite real local skill.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635240" y="132588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0B3B25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90956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CB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909560" y="20116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Difficulty connecting skilled workers with people who need home services in Belhar.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7909560" y="3794760"/>
            <a:ext cx="3200400" cy="13716"/>
          </a:xfrm>
          <a:prstGeom prst="rect">
            <a:avLst/>
          </a:prstGeom>
          <a:solidFill>
            <a:srgbClr val="2A6B45"/>
          </a:solidFill>
          <a:ln/>
        </p:spPr>
      </p:sp>
      <p:sp>
        <p:nvSpPr>
          <p:cNvPr id="22" name="Text 17"/>
          <p:cNvSpPr/>
          <p:nvPr/>
        </p:nvSpPr>
        <p:spPr>
          <a:xfrm>
            <a:off x="7909560" y="40233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solved, this model could also be adapted to other communities facing the same challenge.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HANDYHUB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Validated by the Community: 27 Belhar Residents Surveyed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10402A"/>
          </a:solidFill>
          <a:ln w="12700">
            <a:solidFill>
              <a:srgbClr val="1E5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98A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needed a local service such as plumbing, electrical work, or painting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10402A"/>
          </a:solidFill>
          <a:ln w="12700">
            <a:solidFill>
              <a:srgbClr val="1E5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783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E9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96.3%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47872" y="26060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had difficulty finding a reliable service provider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2784" y="1600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10402A"/>
          </a:solidFill>
          <a:ln w="12700">
            <a:solidFill>
              <a:srgbClr val="1E5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1783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D98A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9944" y="26060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use an app or website to find trusted, verified providers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34856" y="16002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10402A"/>
          </a:solidFill>
          <a:ln w="12700">
            <a:solidFill>
              <a:srgbClr val="1E5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72016" y="17830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E9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77.8%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272016" y="26060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skilled residents want to list their services online for more jobs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1192256" cy="1691640"/>
          </a:xfrm>
          <a:prstGeom prst="roundRect">
            <a:avLst>
              <a:gd name="adj" fmla="val 5405"/>
            </a:avLst>
          </a:prstGeom>
          <a:solidFill>
            <a:srgbClr val="0F4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526280"/>
            <a:ext cx="777240" cy="777240"/>
          </a:xfrm>
          <a:prstGeom prst="ellipse">
            <a:avLst/>
          </a:prstGeom>
          <a:solidFill>
            <a:srgbClr val="6E9B2E"/>
          </a:solidFill>
          <a:ln/>
        </p:spPr>
      </p:sp>
      <p:pic>
        <p:nvPicPr>
          <p:cNvPr id="19" name="Image 0" descr="/home/claude/handyhub/icons/chart_0B3B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1" y="4627321"/>
            <a:ext cx="575158" cy="57515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82880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photos of past work matter most for trust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828800" y="4937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 of respondents said customer reviews build trust, and 63% pointed to photos of past </a:t>
            </a:r>
            <a:r>
              <a:rPr lang="en-US" sz="1250" dirty="0" smtClean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work, </a:t>
            </a:r>
            <a:r>
              <a:rPr lang="en-US" sz="125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features HandyHub is built around.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HANDYHUB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Introducing HandyHub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platform connecting Belhar residents with skilled local workers.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749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76200" dist="25400" dir="5400000" algn="bl" rotWithShape="0">
              <a:srgbClr val="6B8E77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0B3B25"/>
          </a:solidFill>
          <a:ln/>
        </p:spPr>
      </p:sp>
      <p:pic>
        <p:nvPicPr>
          <p:cNvPr id="8" name="Image 0" descr="/home/claude/handyhub/icons/hom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2" y="2240280"/>
            <a:ext cx="473659" cy="4736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2402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 Residents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3072384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29077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verified workers by category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3694176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52958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ratings, reviews &amp; past-work photos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4315968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15137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job in one place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60720" y="1874520"/>
            <a:ext cx="50749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76200" dist="25400" dir="5400000" algn="bl" rotWithShape="0">
              <a:srgbClr val="6B8E77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2148840"/>
            <a:ext cx="640080" cy="640080"/>
          </a:xfrm>
          <a:prstGeom prst="ellipse">
            <a:avLst/>
          </a:prstGeom>
          <a:solidFill>
            <a:srgbClr val="0B3B25"/>
          </a:solidFill>
          <a:ln/>
        </p:spPr>
      </p:sp>
      <p:pic>
        <p:nvPicPr>
          <p:cNvPr id="18" name="Image 1" descr="/home/claude/handyhub/icons/tool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250" y="2232050"/>
            <a:ext cx="473659" cy="47365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58000" y="22402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 Workers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080760" y="3072384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21" name="Text 17"/>
          <p:cNvSpPr/>
          <p:nvPr/>
        </p:nvSpPr>
        <p:spPr>
          <a:xfrm>
            <a:off x="6355080" y="29077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profile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080760" y="3694176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23" name="Text 19"/>
          <p:cNvSpPr/>
          <p:nvPr/>
        </p:nvSpPr>
        <p:spPr>
          <a:xfrm>
            <a:off x="6355080" y="352958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skills &amp; qualifications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080760" y="4315968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25" name="Text 21"/>
          <p:cNvSpPr/>
          <p:nvPr/>
        </p:nvSpPr>
        <p:spPr>
          <a:xfrm>
            <a:off x="6355080" y="415137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job requests directly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5120640"/>
            <a:ext cx="10287000" cy="1005840"/>
          </a:xfrm>
          <a:prstGeom prst="roundRect">
            <a:avLst>
              <a:gd name="adj" fmla="val 9091"/>
            </a:avLst>
          </a:prstGeom>
          <a:solidFill>
            <a:srgbClr val="E8F0E4"/>
          </a:solidFill>
          <a:ln/>
        </p:spPr>
      </p:sp>
      <p:sp>
        <p:nvSpPr>
          <p:cNvPr id="27" name="Text 23"/>
          <p:cNvSpPr/>
          <p:nvPr/>
        </p:nvSpPr>
        <p:spPr>
          <a:xfrm>
            <a:off x="822960" y="525780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random referrals through WhatsApp groups, HandyHub creates a structured, searchable platform that builds trust and creates local jobs.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F0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HANDYHUB</a:t>
            </a:r>
            <a:endParaRPr lang="en-US" sz="1000" dirty="0"/>
          </a:p>
        </p:txBody>
      </p:sp>
      <p:sp>
        <p:nvSpPr>
          <p:cNvPr id="901" name="Text F1"/>
          <p:cNvSpPr/>
          <p:nvPr/>
        </p:nvSpPr>
        <p:spPr>
          <a:xfrm>
            <a:off x="1118311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2" name="Title"/>
          <p:cNvSpPr/>
          <p:nvPr/>
        </p:nvSpPr>
        <p:spPr>
          <a:xfrm>
            <a:off x="548640" y="457200"/>
            <a:ext cx="10287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Solution Architecture: Technology Stack</a:t>
            </a:r>
            <a:endParaRPr lang="en-US" sz="3200" dirty="0"/>
          </a:p>
        </p:txBody>
      </p:sp>
      <p:sp>
        <p:nvSpPr>
          <p:cNvPr id="3" name="Subtitle"/>
          <p:cNvSpPr/>
          <p:nvPr/>
        </p:nvSpPr>
        <p:spPr>
          <a:xfrm>
            <a:off x="548640" y="1170432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HandyHub will be engineered after the MVP </a:t>
            </a:r>
            <a:r>
              <a:rPr lang="en-US" sz="1400" i="1" dirty="0" smtClean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phase, </a:t>
            </a:r>
            <a:r>
              <a:rPr lang="en-US" sz="1400" i="1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serverless stack chosen for low cost and fast development.</a:t>
            </a:r>
            <a:endParaRPr lang="en-US" sz="1400" dirty="0"/>
          </a:p>
        </p:txBody>
      </p:sp>
      <p:sp>
        <p:nvSpPr>
          <p:cNvPr id="896" name="Text"/>
          <p:cNvSpPr/>
          <p:nvPr/>
        </p:nvSpPr>
        <p:spPr>
          <a:xfrm>
            <a:off x="548640" y="1750060"/>
            <a:ext cx="22860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897" name="Text"/>
          <p:cNvSpPr/>
          <p:nvPr/>
        </p:nvSpPr>
        <p:spPr>
          <a:xfrm>
            <a:off x="2971800" y="1750060"/>
            <a:ext cx="32004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" name="Text"/>
          <p:cNvSpPr/>
          <p:nvPr/>
        </p:nvSpPr>
        <p:spPr>
          <a:xfrm>
            <a:off x="6309360" y="1750060"/>
            <a:ext cx="53340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CHOICE</a:t>
            </a:r>
            <a:endParaRPr lang="en-US" sz="1000" dirty="0"/>
          </a:p>
        </p:txBody>
      </p:sp>
      <p:sp>
        <p:nvSpPr>
          <p:cNvPr id="5" name="Divider"/>
          <p:cNvSpPr/>
          <p:nvPr/>
        </p:nvSpPr>
        <p:spPr>
          <a:xfrm>
            <a:off x="548640" y="2100060"/>
            <a:ext cx="11094720" cy="12700"/>
          </a:xfrm>
          <a:prstGeom prst="rect">
            <a:avLst/>
          </a:prstGeom>
          <a:solidFill>
            <a:srgbClr val="DCE6DD"/>
          </a:solidFill>
          <a:ln/>
        </p:spPr>
      </p:sp>
      <p:sp>
        <p:nvSpPr>
          <p:cNvPr id="6" name="Text"/>
          <p:cNvSpPr/>
          <p:nvPr/>
        </p:nvSpPr>
        <p:spPr>
          <a:xfrm>
            <a:off x="548640" y="21400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7" name="Text"/>
          <p:cNvSpPr/>
          <p:nvPr/>
        </p:nvSpPr>
        <p:spPr>
          <a:xfrm>
            <a:off x="2971800" y="21400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TypeScript</a:t>
            </a:r>
            <a:endParaRPr lang="en-US" sz="1150" dirty="0"/>
          </a:p>
        </p:txBody>
      </p:sp>
      <p:sp>
        <p:nvSpPr>
          <p:cNvPr id="8" name="Text"/>
          <p:cNvSpPr/>
          <p:nvPr/>
        </p:nvSpPr>
        <p:spPr>
          <a:xfrm>
            <a:off x="6309360" y="2140060"/>
            <a:ext cx="533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for Android &amp; iOS; typing keeps the small team fast.</a:t>
            </a:r>
            <a:endParaRPr lang="en-US" sz="1100" dirty="0"/>
          </a:p>
        </p:txBody>
      </p:sp>
      <p:sp>
        <p:nvSpPr>
          <p:cNvPr id="9" name="Divider"/>
          <p:cNvSpPr/>
          <p:nvPr/>
        </p:nvSpPr>
        <p:spPr>
          <a:xfrm>
            <a:off x="548640" y="2642980"/>
            <a:ext cx="11094720" cy="9525"/>
          </a:xfrm>
          <a:prstGeom prst="rect">
            <a:avLst/>
          </a:prstGeom>
          <a:solidFill>
            <a:srgbClr val="DCE6DD"/>
          </a:solidFill>
          <a:ln/>
        </p:spPr>
      </p:sp>
      <p:sp>
        <p:nvSpPr>
          <p:cNvPr id="10" name="Text"/>
          <p:cNvSpPr/>
          <p:nvPr/>
        </p:nvSpPr>
        <p:spPr>
          <a:xfrm>
            <a:off x="548640" y="26469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State</a:t>
            </a:r>
            <a:endParaRPr lang="en-US" sz="1150" dirty="0"/>
          </a:p>
        </p:txBody>
      </p:sp>
      <p:sp>
        <p:nvSpPr>
          <p:cNvPr id="11" name="Text"/>
          <p:cNvSpPr/>
          <p:nvPr/>
        </p:nvSpPr>
        <p:spPr>
          <a:xfrm>
            <a:off x="2971800" y="26469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Navigation, Redux Toolkit</a:t>
            </a:r>
            <a:endParaRPr lang="en-US" sz="1150" dirty="0"/>
          </a:p>
        </p:txBody>
      </p:sp>
      <p:sp>
        <p:nvSpPr>
          <p:cNvPr id="12" name="Text"/>
          <p:cNvSpPr/>
          <p:nvPr/>
        </p:nvSpPr>
        <p:spPr>
          <a:xfrm>
            <a:off x="6309360" y="2646980"/>
            <a:ext cx="533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screen flow and shared app state, like the logged-in user.</a:t>
            </a:r>
            <a:endParaRPr lang="en-US" sz="1100" dirty="0"/>
          </a:p>
        </p:txBody>
      </p:sp>
      <p:sp>
        <p:nvSpPr>
          <p:cNvPr id="13" name="Divider"/>
          <p:cNvSpPr/>
          <p:nvPr/>
        </p:nvSpPr>
        <p:spPr>
          <a:xfrm>
            <a:off x="548640" y="3149900"/>
            <a:ext cx="11094720" cy="9525"/>
          </a:xfrm>
          <a:prstGeom prst="rect">
            <a:avLst/>
          </a:prstGeom>
          <a:solidFill>
            <a:srgbClr val="DCE6DD"/>
          </a:solidFill>
          <a:ln/>
        </p:spPr>
      </p:sp>
      <p:sp>
        <p:nvSpPr>
          <p:cNvPr id="14" name="Text"/>
          <p:cNvSpPr/>
          <p:nvPr/>
        </p:nvSpPr>
        <p:spPr>
          <a:xfrm>
            <a:off x="548640" y="31539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150" dirty="0"/>
          </a:p>
        </p:txBody>
      </p:sp>
      <p:sp>
        <p:nvSpPr>
          <p:cNvPr id="15" name="Text"/>
          <p:cNvSpPr/>
          <p:nvPr/>
        </p:nvSpPr>
        <p:spPr>
          <a:xfrm>
            <a:off x="2971800" y="31539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Functions (Node.js + TS)</a:t>
            </a:r>
            <a:endParaRPr lang="en-US" sz="1150" dirty="0"/>
          </a:p>
        </p:txBody>
      </p:sp>
      <p:sp>
        <p:nvSpPr>
          <p:cNvPr id="16" name="Text"/>
          <p:cNvSpPr/>
          <p:nvPr/>
        </p:nvSpPr>
        <p:spPr>
          <a:xfrm>
            <a:off x="6309360" y="3153900"/>
            <a:ext cx="533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— no dedicated server to manage or pay for.</a:t>
            </a:r>
            <a:endParaRPr lang="en-US" sz="1100" dirty="0"/>
          </a:p>
        </p:txBody>
      </p:sp>
      <p:sp>
        <p:nvSpPr>
          <p:cNvPr id="17" name="Divider"/>
          <p:cNvSpPr/>
          <p:nvPr/>
        </p:nvSpPr>
        <p:spPr>
          <a:xfrm>
            <a:off x="548640" y="3656820"/>
            <a:ext cx="11094720" cy="9525"/>
          </a:xfrm>
          <a:prstGeom prst="rect">
            <a:avLst/>
          </a:prstGeom>
          <a:solidFill>
            <a:srgbClr val="DCE6DD"/>
          </a:solidFill>
          <a:ln/>
        </p:spPr>
      </p:sp>
      <p:sp>
        <p:nvSpPr>
          <p:cNvPr id="18" name="Text"/>
          <p:cNvSpPr/>
          <p:nvPr/>
        </p:nvSpPr>
        <p:spPr>
          <a:xfrm>
            <a:off x="548640" y="36608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19" name="Text"/>
          <p:cNvSpPr/>
          <p:nvPr/>
        </p:nvSpPr>
        <p:spPr>
          <a:xfrm>
            <a:off x="2971800" y="36608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150" dirty="0"/>
          </a:p>
        </p:txBody>
      </p:sp>
      <p:sp>
        <p:nvSpPr>
          <p:cNvPr id="20" name="Text"/>
          <p:cNvSpPr/>
          <p:nvPr/>
        </p:nvSpPr>
        <p:spPr>
          <a:xfrm>
            <a:off x="6309360" y="3660820"/>
            <a:ext cx="533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or email sign-up/login without custom security logic.</a:t>
            </a:r>
            <a:endParaRPr lang="en-US" sz="1100" dirty="0"/>
          </a:p>
        </p:txBody>
      </p:sp>
      <p:sp>
        <p:nvSpPr>
          <p:cNvPr id="21" name="Divider"/>
          <p:cNvSpPr/>
          <p:nvPr/>
        </p:nvSpPr>
        <p:spPr>
          <a:xfrm>
            <a:off x="548640" y="4163740"/>
            <a:ext cx="11094720" cy="9525"/>
          </a:xfrm>
          <a:prstGeom prst="rect">
            <a:avLst/>
          </a:prstGeom>
          <a:solidFill>
            <a:srgbClr val="DCE6DD"/>
          </a:solidFill>
          <a:ln/>
        </p:spPr>
      </p:sp>
      <p:sp>
        <p:nvSpPr>
          <p:cNvPr id="22" name="Text"/>
          <p:cNvSpPr/>
          <p:nvPr/>
        </p:nvSpPr>
        <p:spPr>
          <a:xfrm>
            <a:off x="548640" y="41677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3" name="Text"/>
          <p:cNvSpPr/>
          <p:nvPr/>
        </p:nvSpPr>
        <p:spPr>
          <a:xfrm>
            <a:off x="2971800" y="41677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 (NoSQL)</a:t>
            </a:r>
            <a:endParaRPr lang="en-US" sz="1150" dirty="0"/>
          </a:p>
        </p:txBody>
      </p:sp>
      <p:sp>
        <p:nvSpPr>
          <p:cNvPr id="24" name="Text"/>
          <p:cNvSpPr/>
          <p:nvPr/>
        </p:nvSpPr>
        <p:spPr>
          <a:xfrm>
            <a:off x="6309360" y="4167740"/>
            <a:ext cx="533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for job requests, ratings and reviews.</a:t>
            </a:r>
            <a:endParaRPr lang="en-US" sz="1100" dirty="0"/>
          </a:p>
        </p:txBody>
      </p:sp>
      <p:sp>
        <p:nvSpPr>
          <p:cNvPr id="25" name="Divider"/>
          <p:cNvSpPr/>
          <p:nvPr/>
        </p:nvSpPr>
        <p:spPr>
          <a:xfrm>
            <a:off x="548640" y="4670660"/>
            <a:ext cx="11094720" cy="9525"/>
          </a:xfrm>
          <a:prstGeom prst="rect">
            <a:avLst/>
          </a:prstGeom>
          <a:solidFill>
            <a:srgbClr val="DCE6DD"/>
          </a:solidFill>
          <a:ln/>
        </p:spPr>
      </p:sp>
      <p:sp>
        <p:nvSpPr>
          <p:cNvPr id="26" name="Text"/>
          <p:cNvSpPr/>
          <p:nvPr/>
        </p:nvSpPr>
        <p:spPr>
          <a:xfrm>
            <a:off x="548640" y="46746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150" dirty="0"/>
          </a:p>
        </p:txBody>
      </p:sp>
      <p:sp>
        <p:nvSpPr>
          <p:cNvPr id="27" name="Text"/>
          <p:cNvSpPr/>
          <p:nvPr/>
        </p:nvSpPr>
        <p:spPr>
          <a:xfrm>
            <a:off x="2971800" y="46746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Storage</a:t>
            </a:r>
            <a:endParaRPr lang="en-US" sz="1150" dirty="0"/>
          </a:p>
        </p:txBody>
      </p:sp>
      <p:sp>
        <p:nvSpPr>
          <p:cNvPr id="28" name="Text"/>
          <p:cNvSpPr/>
          <p:nvPr/>
        </p:nvSpPr>
        <p:spPr>
          <a:xfrm>
            <a:off x="6309360" y="4674660"/>
            <a:ext cx="533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photos and past-work photos — key to building trust.</a:t>
            </a:r>
            <a:endParaRPr lang="en-US" sz="1100" dirty="0"/>
          </a:p>
        </p:txBody>
      </p:sp>
      <p:sp>
        <p:nvSpPr>
          <p:cNvPr id="29" name="Divider"/>
          <p:cNvSpPr/>
          <p:nvPr/>
        </p:nvSpPr>
        <p:spPr>
          <a:xfrm>
            <a:off x="548640" y="5177580"/>
            <a:ext cx="11094720" cy="9525"/>
          </a:xfrm>
          <a:prstGeom prst="rect">
            <a:avLst/>
          </a:prstGeom>
          <a:solidFill>
            <a:srgbClr val="DCE6DD"/>
          </a:solidFill>
          <a:ln/>
        </p:spPr>
      </p:sp>
      <p:sp>
        <p:nvSpPr>
          <p:cNvPr id="30" name="Text"/>
          <p:cNvSpPr/>
          <p:nvPr/>
        </p:nvSpPr>
        <p:spPr>
          <a:xfrm>
            <a:off x="548640" y="51815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150" dirty="0"/>
          </a:p>
        </p:txBody>
      </p:sp>
      <p:sp>
        <p:nvSpPr>
          <p:cNvPr id="31" name="Text"/>
          <p:cNvSpPr/>
          <p:nvPr/>
        </p:nvSpPr>
        <p:spPr>
          <a:xfrm>
            <a:off x="2971800" y="51815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 (FCM)</a:t>
            </a:r>
            <a:endParaRPr lang="en-US" sz="1150" dirty="0"/>
          </a:p>
        </p:txBody>
      </p:sp>
      <p:sp>
        <p:nvSpPr>
          <p:cNvPr id="32" name="Text"/>
          <p:cNvSpPr/>
          <p:nvPr/>
        </p:nvSpPr>
        <p:spPr>
          <a:xfrm>
            <a:off x="6309360" y="5181580"/>
            <a:ext cx="533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 workers of new jobs, residents of replies.</a:t>
            </a:r>
            <a:endParaRPr lang="en-US" sz="1100" dirty="0"/>
          </a:p>
        </p:txBody>
      </p:sp>
      <p:sp>
        <p:nvSpPr>
          <p:cNvPr id="33" name="Divider"/>
          <p:cNvSpPr/>
          <p:nvPr/>
        </p:nvSpPr>
        <p:spPr>
          <a:xfrm>
            <a:off x="548640" y="5684500"/>
            <a:ext cx="11094720" cy="9525"/>
          </a:xfrm>
          <a:prstGeom prst="rect">
            <a:avLst/>
          </a:prstGeom>
          <a:solidFill>
            <a:srgbClr val="DCE6DD"/>
          </a:solidFill>
          <a:ln/>
        </p:spPr>
      </p:sp>
      <p:sp>
        <p:nvSpPr>
          <p:cNvPr id="34" name="Text"/>
          <p:cNvSpPr/>
          <p:nvPr/>
        </p:nvSpPr>
        <p:spPr>
          <a:xfrm>
            <a:off x="548640" y="56885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Location</a:t>
            </a:r>
            <a:endParaRPr lang="en-US" sz="1150" dirty="0"/>
          </a:p>
        </p:txBody>
      </p:sp>
      <p:sp>
        <p:nvSpPr>
          <p:cNvPr id="35" name="Text"/>
          <p:cNvSpPr/>
          <p:nvPr/>
        </p:nvSpPr>
        <p:spPr>
          <a:xfrm>
            <a:off x="2971800" y="56885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50" dirty="0"/>
          </a:p>
        </p:txBody>
      </p:sp>
      <p:sp>
        <p:nvSpPr>
          <p:cNvPr id="36" name="Text"/>
          <p:cNvSpPr/>
          <p:nvPr/>
        </p:nvSpPr>
        <p:spPr>
          <a:xfrm>
            <a:off x="6309360" y="5688500"/>
            <a:ext cx="533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worker locations and nearby service areas.</a:t>
            </a:r>
            <a:endParaRPr lang="en-US" sz="1100" dirty="0"/>
          </a:p>
        </p:txBody>
      </p:sp>
      <p:sp>
        <p:nvSpPr>
          <p:cNvPr id="37" name="Divider"/>
          <p:cNvSpPr/>
          <p:nvPr/>
        </p:nvSpPr>
        <p:spPr>
          <a:xfrm>
            <a:off x="548640" y="6191420"/>
            <a:ext cx="11094720" cy="9525"/>
          </a:xfrm>
          <a:prstGeom prst="rect">
            <a:avLst/>
          </a:prstGeom>
          <a:solidFill>
            <a:srgbClr val="DCE6DD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F0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HANDYHUB</a:t>
            </a:r>
            <a:endParaRPr lang="en-US" sz="1000" dirty="0"/>
          </a:p>
        </p:txBody>
      </p:sp>
      <p:sp>
        <p:nvSpPr>
          <p:cNvPr id="901" name="Text F1"/>
          <p:cNvSpPr/>
          <p:nvPr/>
        </p:nvSpPr>
        <p:spPr>
          <a:xfrm>
            <a:off x="1118311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2" name="Title"/>
          <p:cNvSpPr/>
          <p:nvPr/>
        </p:nvSpPr>
        <p:spPr>
          <a:xfrm>
            <a:off x="548640" y="457200"/>
            <a:ext cx="10287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It All Connects</a:t>
            </a:r>
            <a:endParaRPr lang="en-US" sz="3200" dirty="0"/>
          </a:p>
        </p:txBody>
      </p:sp>
      <p:sp>
        <p:nvSpPr>
          <p:cNvPr id="3" name="Subtitle"/>
          <p:cNvSpPr/>
          <p:nvPr/>
        </p:nvSpPr>
        <p:spPr>
          <a:xfrm>
            <a:off x="548640" y="1170432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app talks to serverless backend services. Residents and workers share one codebase but see different screens based on their role.</a:t>
            </a:r>
            <a:endParaRPr lang="en-US" sz="1400" dirty="0"/>
          </a:p>
        </p:txBody>
      </p:sp>
      <p:sp>
        <p:nvSpPr>
          <p:cNvPr id="4" name="Shape"/>
          <p:cNvSpPr/>
          <p:nvPr/>
        </p:nvSpPr>
        <p:spPr>
          <a:xfrm>
            <a:off x="2926080" y="1750060"/>
            <a:ext cx="6338952" cy="448056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76200" dist="25400" dir="5400000" algn="bl" rotWithShape="0">
              <a:srgbClr val="6B8E77">
                <a:alpha val="18000"/>
              </a:srgbClr>
            </a:outerShdw>
          </a:effectLst>
        </p:spPr>
      </p:sp>
      <p:pic>
        <p:nvPicPr>
          <p:cNvPr id="5" name="Image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024380"/>
            <a:ext cx="5790312" cy="3931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F0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HANDYHUB</a:t>
            </a:r>
            <a:endParaRPr lang="en-US" sz="1000" dirty="0"/>
          </a:p>
        </p:txBody>
      </p:sp>
      <p:sp>
        <p:nvSpPr>
          <p:cNvPr id="901" name="Text F1"/>
          <p:cNvSpPr/>
          <p:nvPr/>
        </p:nvSpPr>
        <p:spPr>
          <a:xfrm>
            <a:off x="1118311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2" name="Title"/>
          <p:cNvSpPr/>
          <p:nvPr/>
        </p:nvSpPr>
        <p:spPr>
          <a:xfrm>
            <a:off x="548640" y="457200"/>
            <a:ext cx="10287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Frontend &amp; Backend, Working Together</a:t>
            </a:r>
            <a:endParaRPr lang="en-US" sz="3200" dirty="0"/>
          </a:p>
        </p:txBody>
      </p:sp>
      <p:sp>
        <p:nvSpPr>
          <p:cNvPr id="3" name="Subtitle"/>
          <p:cNvSpPr/>
          <p:nvPr/>
        </p:nvSpPr>
        <p:spPr>
          <a:xfrm>
            <a:off x="548640" y="1170432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one shared language — TypeScript end to end — so the team of three moves fast without switching contexts.</a:t>
            </a:r>
            <a:endParaRPr lang="en-US" sz="1400" dirty="0"/>
          </a:p>
        </p:txBody>
      </p:sp>
      <p:sp>
        <p:nvSpPr>
          <p:cNvPr id="28" name="Shape"/>
          <p:cNvSpPr/>
          <p:nvPr/>
        </p:nvSpPr>
        <p:spPr>
          <a:xfrm>
            <a:off x="548640" y="1874520"/>
            <a:ext cx="50749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76200" dist="25400" dir="5400000" algn="bl" rotWithShape="0">
              <a:srgbClr val="6B8E77">
                <a:alpha val="18000"/>
              </a:srgbClr>
            </a:outerShdw>
          </a:effectLst>
        </p:spPr>
      </p:sp>
      <p:sp>
        <p:nvSpPr>
          <p:cNvPr id="29" name="Circle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0B3B25"/>
          </a:solidFill>
          <a:ln/>
        </p:spPr>
      </p:sp>
      <p:pic>
        <p:nvPicPr>
          <p:cNvPr id="4" name="Image" descr="mobile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216280"/>
            <a:ext cx="473659" cy="473659"/>
          </a:xfrm>
          <a:prstGeom prst="rect">
            <a:avLst/>
          </a:prstGeom>
        </p:spPr>
      </p:pic>
      <p:sp>
        <p:nvSpPr>
          <p:cNvPr id="5" name="Text"/>
          <p:cNvSpPr/>
          <p:nvPr/>
        </p:nvSpPr>
        <p:spPr>
          <a:xfrm>
            <a:off x="1645920" y="22402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Frontend: Mobile App</a:t>
            </a:r>
            <a:endParaRPr lang="en-US" sz="1800" dirty="0"/>
          </a:p>
        </p:txBody>
      </p:sp>
      <p:sp>
        <p:nvSpPr>
          <p:cNvPr id="6" name="Circle"/>
          <p:cNvSpPr/>
          <p:nvPr/>
        </p:nvSpPr>
        <p:spPr>
          <a:xfrm>
            <a:off x="868680" y="3207520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7" name="Text"/>
          <p:cNvSpPr/>
          <p:nvPr/>
        </p:nvSpPr>
        <p:spPr>
          <a:xfrm>
            <a:off x="1143000" y="3072384"/>
            <a:ext cx="416052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React Native + TS codebase for iOS &amp; Android</a:t>
            </a:r>
            <a:endParaRPr lang="en-US" sz="1150" dirty="0"/>
          </a:p>
        </p:txBody>
      </p:sp>
      <p:sp>
        <p:nvSpPr>
          <p:cNvPr id="8" name="Circle"/>
          <p:cNvSpPr/>
          <p:nvPr/>
        </p:nvSpPr>
        <p:spPr>
          <a:xfrm>
            <a:off x="868680" y="3607520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9" name="Text"/>
          <p:cNvSpPr/>
          <p:nvPr/>
        </p:nvSpPr>
        <p:spPr>
          <a:xfrm>
            <a:off x="1143000" y="3472384"/>
            <a:ext cx="416052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navigation for residents vs. workers</a:t>
            </a:r>
            <a:endParaRPr lang="en-US" sz="1150" dirty="0"/>
          </a:p>
        </p:txBody>
      </p:sp>
      <p:sp>
        <p:nvSpPr>
          <p:cNvPr id="10" name="Circle"/>
          <p:cNvSpPr/>
          <p:nvPr/>
        </p:nvSpPr>
        <p:spPr>
          <a:xfrm>
            <a:off x="868680" y="4007520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11" name="Text"/>
          <p:cNvSpPr/>
          <p:nvPr/>
        </p:nvSpPr>
        <p:spPr>
          <a:xfrm>
            <a:off x="1143000" y="3872384"/>
            <a:ext cx="416052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UI components for a consistent look</a:t>
            </a:r>
            <a:endParaRPr lang="en-US" sz="1150" dirty="0"/>
          </a:p>
        </p:txBody>
      </p:sp>
      <p:sp>
        <p:nvSpPr>
          <p:cNvPr id="12" name="Circle"/>
          <p:cNvSpPr/>
          <p:nvPr/>
        </p:nvSpPr>
        <p:spPr>
          <a:xfrm>
            <a:off x="868680" y="4407520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13" name="Text"/>
          <p:cNvSpPr/>
          <p:nvPr/>
        </p:nvSpPr>
        <p:spPr>
          <a:xfrm>
            <a:off x="1143000" y="4272384"/>
            <a:ext cx="416052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TS types keep frontend &amp; backend in sync</a:t>
            </a:r>
            <a:endParaRPr lang="en-US" sz="1150" dirty="0"/>
          </a:p>
        </p:txBody>
      </p:sp>
      <p:sp>
        <p:nvSpPr>
          <p:cNvPr id="14" name="Shape"/>
          <p:cNvSpPr/>
          <p:nvPr/>
        </p:nvSpPr>
        <p:spPr>
          <a:xfrm>
            <a:off x="5760720" y="1874520"/>
            <a:ext cx="50749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76200" dist="25400" dir="5400000" algn="bl" rotWithShape="0">
              <a:srgbClr val="6B8E77">
                <a:alpha val="18000"/>
              </a:srgbClr>
            </a:outerShdw>
          </a:effectLst>
        </p:spPr>
      </p:sp>
      <p:sp>
        <p:nvSpPr>
          <p:cNvPr id="15" name="Circle"/>
          <p:cNvSpPr/>
          <p:nvPr/>
        </p:nvSpPr>
        <p:spPr>
          <a:xfrm>
            <a:off x="6035040" y="2148840"/>
            <a:ext cx="640080" cy="640080"/>
          </a:xfrm>
          <a:prstGeom prst="ellipse">
            <a:avLst/>
          </a:prstGeom>
          <a:solidFill>
            <a:srgbClr val="0B3B25"/>
          </a:solidFill>
          <a:ln/>
        </p:spPr>
      </p:sp>
      <p:pic>
        <p:nvPicPr>
          <p:cNvPr id="16" name="Image" descr="serv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970" y="2232470"/>
            <a:ext cx="473659" cy="473659"/>
          </a:xfrm>
          <a:prstGeom prst="rect">
            <a:avLst/>
          </a:prstGeom>
        </p:spPr>
      </p:pic>
      <p:sp>
        <p:nvSpPr>
          <p:cNvPr id="17" name="Text"/>
          <p:cNvSpPr/>
          <p:nvPr/>
        </p:nvSpPr>
        <p:spPr>
          <a:xfrm>
            <a:off x="6858000" y="22402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Backend &amp; Services</a:t>
            </a:r>
            <a:endParaRPr lang="en-US" sz="1800" dirty="0"/>
          </a:p>
        </p:txBody>
      </p:sp>
      <p:sp>
        <p:nvSpPr>
          <p:cNvPr id="18" name="Circle"/>
          <p:cNvSpPr/>
          <p:nvPr/>
        </p:nvSpPr>
        <p:spPr>
          <a:xfrm>
            <a:off x="6080760" y="3207520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19" name="Text"/>
          <p:cNvSpPr/>
          <p:nvPr/>
        </p:nvSpPr>
        <p:spPr>
          <a:xfrm>
            <a:off x="6355080" y="3072384"/>
            <a:ext cx="416052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 expose REST endpoints (Node + TS)</a:t>
            </a:r>
            <a:endParaRPr lang="en-US" sz="1150" dirty="0"/>
          </a:p>
        </p:txBody>
      </p:sp>
      <p:sp>
        <p:nvSpPr>
          <p:cNvPr id="20" name="Circle"/>
          <p:cNvSpPr/>
          <p:nvPr/>
        </p:nvSpPr>
        <p:spPr>
          <a:xfrm>
            <a:off x="6080760" y="3607520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21" name="Text"/>
          <p:cNvSpPr/>
          <p:nvPr/>
        </p:nvSpPr>
        <p:spPr>
          <a:xfrm>
            <a:off x="6355080" y="3472384"/>
            <a:ext cx="416052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stores data with real-time listeners</a:t>
            </a:r>
            <a:endParaRPr lang="en-US" sz="1150" dirty="0"/>
          </a:p>
        </p:txBody>
      </p:sp>
      <p:sp>
        <p:nvSpPr>
          <p:cNvPr id="22" name="Circle"/>
          <p:cNvSpPr/>
          <p:nvPr/>
        </p:nvSpPr>
        <p:spPr>
          <a:xfrm>
            <a:off x="6080760" y="4007520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23" name="Text"/>
          <p:cNvSpPr/>
          <p:nvPr/>
        </p:nvSpPr>
        <p:spPr>
          <a:xfrm>
            <a:off x="6355080" y="3872384"/>
            <a:ext cx="416052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handles sign-up &amp; login</a:t>
            </a:r>
            <a:endParaRPr lang="en-US" sz="1150" dirty="0"/>
          </a:p>
        </p:txBody>
      </p:sp>
      <p:sp>
        <p:nvSpPr>
          <p:cNvPr id="24" name="Circle"/>
          <p:cNvSpPr/>
          <p:nvPr/>
        </p:nvSpPr>
        <p:spPr>
          <a:xfrm>
            <a:off x="6080760" y="4407520"/>
            <a:ext cx="109728" cy="109728"/>
          </a:xfrm>
          <a:prstGeom prst="ellipse">
            <a:avLst/>
          </a:prstGeom>
          <a:solidFill>
            <a:srgbClr val="6E9B2E"/>
          </a:solidFill>
          <a:ln/>
        </p:spPr>
      </p:sp>
      <p:sp>
        <p:nvSpPr>
          <p:cNvPr id="25" name="Text"/>
          <p:cNvSpPr/>
          <p:nvPr/>
        </p:nvSpPr>
        <p:spPr>
          <a:xfrm>
            <a:off x="6355080" y="4272384"/>
            <a:ext cx="416052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holds profile &amp; job photos</a:t>
            </a:r>
            <a:endParaRPr lang="en-US" sz="1150" dirty="0"/>
          </a:p>
        </p:txBody>
      </p:sp>
      <p:sp>
        <p:nvSpPr>
          <p:cNvPr id="26" name="Shape"/>
          <p:cNvSpPr/>
          <p:nvPr/>
        </p:nvSpPr>
        <p:spPr>
          <a:xfrm>
            <a:off x="548640" y="5120640"/>
            <a:ext cx="10287000" cy="1005840"/>
          </a:xfrm>
          <a:prstGeom prst="roundRect">
            <a:avLst>
              <a:gd name="adj" fmla="val 2985"/>
            </a:avLst>
          </a:prstGeom>
          <a:solidFill>
            <a:srgbClr val="E8F0E4"/>
          </a:solidFill>
          <a:ln/>
          <a:effectLst/>
        </p:spPr>
      </p:sp>
      <p:sp>
        <p:nvSpPr>
          <p:cNvPr id="27" name="Text"/>
          <p:cNvSpPr/>
          <p:nvPr/>
        </p:nvSpPr>
        <p:spPr>
          <a:xfrm>
            <a:off x="822960" y="525780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 and Firebase Cloud Messaging plug in as third-party </a:t>
            </a:r>
            <a:r>
              <a:rPr lang="en-US" sz="1350" i="1" dirty="0" smtClean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</a:t>
            </a:r>
            <a:r>
              <a:rPr lang="en-US" sz="1350" i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team's effort focused on HandyHub's core value.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F0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HANDYHUB</a:t>
            </a:r>
            <a:endParaRPr lang="en-US" sz="1000" dirty="0"/>
          </a:p>
        </p:txBody>
      </p:sp>
      <p:sp>
        <p:nvSpPr>
          <p:cNvPr id="901" name="Text F1"/>
          <p:cNvSpPr/>
          <p:nvPr/>
        </p:nvSpPr>
        <p:spPr>
          <a:xfrm>
            <a:off x="1118311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2" name="Title"/>
          <p:cNvSpPr/>
          <p:nvPr/>
        </p:nvSpPr>
        <p:spPr>
          <a:xfrm>
            <a:off x="548640" y="457200"/>
            <a:ext cx="10287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This Architecture Fits HandyHub</a:t>
            </a:r>
            <a:endParaRPr lang="en-US" sz="3200" dirty="0"/>
          </a:p>
        </p:txBody>
      </p:sp>
      <p:sp>
        <p:nvSpPr>
          <p:cNvPr id="3" name="Subtitle"/>
          <p:cNvSpPr/>
          <p:nvPr/>
        </p:nvSpPr>
        <p:spPr>
          <a:xfrm>
            <a:off x="548640" y="1170432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specifically to support the feasibility conclusions already presented in Section 3.4.</a:t>
            </a:r>
            <a:endParaRPr lang="en-US" sz="1400" dirty="0"/>
          </a:p>
        </p:txBody>
      </p:sp>
      <p:sp>
        <p:nvSpPr>
          <p:cNvPr id="22" name="Shape"/>
          <p:cNvSpPr/>
          <p:nvPr/>
        </p:nvSpPr>
        <p:spPr>
          <a:xfrm>
            <a:off x="548640" y="1874520"/>
            <a:ext cx="2515235" cy="38100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76200" dist="25400" dir="5400000" algn="bl" rotWithShape="0">
              <a:srgbClr val="6B8E77">
                <a:alpha val="18000"/>
              </a:srgbClr>
            </a:outerShdw>
          </a:effectLst>
        </p:spPr>
      </p:sp>
      <p:sp>
        <p:nvSpPr>
          <p:cNvPr id="23" name="Circle"/>
          <p:cNvSpPr/>
          <p:nvPr/>
        </p:nvSpPr>
        <p:spPr>
          <a:xfrm>
            <a:off x="1406207" y="2240280"/>
            <a:ext cx="800100" cy="800100"/>
          </a:xfrm>
          <a:prstGeom prst="ellipse">
            <a:avLst/>
          </a:prstGeom>
          <a:solidFill>
            <a:srgbClr val="0B3B25"/>
          </a:solidFill>
          <a:ln/>
        </p:spPr>
      </p:sp>
      <p:pic>
        <p:nvPicPr>
          <p:cNvPr id="4" name="Image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232" y="2440305"/>
            <a:ext cx="400050" cy="400050"/>
          </a:xfrm>
          <a:prstGeom prst="rect">
            <a:avLst/>
          </a:prstGeom>
        </p:spPr>
      </p:pic>
      <p:sp>
        <p:nvSpPr>
          <p:cNvPr id="5" name="Text"/>
          <p:cNvSpPr/>
          <p:nvPr/>
        </p:nvSpPr>
        <p:spPr>
          <a:xfrm>
            <a:off x="685800" y="3246120"/>
            <a:ext cx="22409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Low Cost to Build &amp; Run</a:t>
            </a:r>
            <a:endParaRPr lang="en-US" sz="1450" dirty="0"/>
          </a:p>
        </p:txBody>
      </p:sp>
      <p:sp>
        <p:nvSpPr>
          <p:cNvPr id="6" name="Text"/>
          <p:cNvSpPr/>
          <p:nvPr/>
        </p:nvSpPr>
        <p:spPr>
          <a:xfrm>
            <a:off x="777240" y="4023360"/>
            <a:ext cx="2058035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Firebase's free tier covers auth, database &amp; storage at MVP scale — keeping costs near the R1,350–R2,700 estimate.</a:t>
            </a:r>
            <a:endParaRPr lang="en-US" sz="1100" dirty="0"/>
          </a:p>
        </p:txBody>
      </p:sp>
      <p:sp>
        <p:nvSpPr>
          <p:cNvPr id="7" name="Shape"/>
          <p:cNvSpPr/>
          <p:nvPr/>
        </p:nvSpPr>
        <p:spPr>
          <a:xfrm>
            <a:off x="3135630" y="1874520"/>
            <a:ext cx="2515235" cy="38100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76200" dist="25400" dir="5400000" algn="bl" rotWithShape="0">
              <a:srgbClr val="6B8E77">
                <a:alpha val="18000"/>
              </a:srgbClr>
            </a:outerShdw>
          </a:effectLst>
        </p:spPr>
      </p:sp>
      <p:sp>
        <p:nvSpPr>
          <p:cNvPr id="8" name="Circle"/>
          <p:cNvSpPr/>
          <p:nvPr/>
        </p:nvSpPr>
        <p:spPr>
          <a:xfrm>
            <a:off x="3993197" y="2240280"/>
            <a:ext cx="800100" cy="800100"/>
          </a:xfrm>
          <a:prstGeom prst="ellipse">
            <a:avLst/>
          </a:prstGeom>
          <a:solidFill>
            <a:srgbClr val="0B3B25"/>
          </a:solidFill>
          <a:ln/>
        </p:spPr>
      </p:sp>
      <p:pic>
        <p:nvPicPr>
          <p:cNvPr id="9" name="Image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222" y="2440305"/>
            <a:ext cx="400050" cy="400050"/>
          </a:xfrm>
          <a:prstGeom prst="rect">
            <a:avLst/>
          </a:prstGeom>
        </p:spPr>
      </p:pic>
      <p:sp>
        <p:nvSpPr>
          <p:cNvPr id="10" name="Text"/>
          <p:cNvSpPr/>
          <p:nvPr/>
        </p:nvSpPr>
        <p:spPr>
          <a:xfrm>
            <a:off x="3272790" y="3246120"/>
            <a:ext cx="22409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Fast Development</a:t>
            </a:r>
            <a:endParaRPr lang="en-US" sz="1450" dirty="0"/>
          </a:p>
        </p:txBody>
      </p:sp>
      <p:sp>
        <p:nvSpPr>
          <p:cNvPr id="11" name="Text"/>
          <p:cNvSpPr/>
          <p:nvPr/>
        </p:nvSpPr>
        <p:spPr>
          <a:xfrm>
            <a:off x="3364230" y="4023360"/>
            <a:ext cx="2058035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across app and backend lets the team of three move between frontend and backend without switching languages.</a:t>
            </a:r>
            <a:endParaRPr lang="en-US" sz="1100" dirty="0"/>
          </a:p>
        </p:txBody>
      </p:sp>
      <p:sp>
        <p:nvSpPr>
          <p:cNvPr id="12" name="Shape"/>
          <p:cNvSpPr/>
          <p:nvPr/>
        </p:nvSpPr>
        <p:spPr>
          <a:xfrm>
            <a:off x="5722620" y="1874520"/>
            <a:ext cx="2515235" cy="38100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76200" dist="25400" dir="5400000" algn="bl" rotWithShape="0">
              <a:srgbClr val="6B8E77">
                <a:alpha val="18000"/>
              </a:srgbClr>
            </a:outerShdw>
          </a:effectLst>
        </p:spPr>
      </p:sp>
      <p:sp>
        <p:nvSpPr>
          <p:cNvPr id="13" name="Circle"/>
          <p:cNvSpPr/>
          <p:nvPr/>
        </p:nvSpPr>
        <p:spPr>
          <a:xfrm>
            <a:off x="6580187" y="2240280"/>
            <a:ext cx="800100" cy="800100"/>
          </a:xfrm>
          <a:prstGeom prst="ellipse">
            <a:avLst/>
          </a:prstGeom>
          <a:solidFill>
            <a:srgbClr val="0B3B25"/>
          </a:solidFill>
          <a:ln/>
        </p:spPr>
      </p:sp>
      <p:pic>
        <p:nvPicPr>
          <p:cNvPr id="14" name="Image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12" y="2440305"/>
            <a:ext cx="400050" cy="400050"/>
          </a:xfrm>
          <a:prstGeom prst="rect">
            <a:avLst/>
          </a:prstGeom>
        </p:spPr>
      </p:pic>
      <p:sp>
        <p:nvSpPr>
          <p:cNvPr id="15" name="Text"/>
          <p:cNvSpPr/>
          <p:nvPr/>
        </p:nvSpPr>
        <p:spPr>
          <a:xfrm>
            <a:off x="5859780" y="3246120"/>
            <a:ext cx="22409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Scalable Beyond Belhar</a:t>
            </a:r>
            <a:endParaRPr lang="en-US" sz="1450" dirty="0"/>
          </a:p>
        </p:txBody>
      </p:sp>
      <p:sp>
        <p:nvSpPr>
          <p:cNvPr id="16" name="Text"/>
          <p:cNvSpPr/>
          <p:nvPr/>
        </p:nvSpPr>
        <p:spPr>
          <a:xfrm>
            <a:off x="5951220" y="4023360"/>
            <a:ext cx="2058035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and Cloud Functions scale automatically if HandyHub grows — no servers for the team to manage.</a:t>
            </a:r>
            <a:endParaRPr lang="en-US" sz="1100" dirty="0"/>
          </a:p>
        </p:txBody>
      </p:sp>
      <p:sp>
        <p:nvSpPr>
          <p:cNvPr id="17" name="Shape"/>
          <p:cNvSpPr/>
          <p:nvPr/>
        </p:nvSpPr>
        <p:spPr>
          <a:xfrm>
            <a:off x="8309610" y="1874520"/>
            <a:ext cx="2515235" cy="38100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76200" dist="25400" dir="5400000" algn="bl" rotWithShape="0">
              <a:srgbClr val="6B8E77">
                <a:alpha val="18000"/>
              </a:srgbClr>
            </a:outerShdw>
          </a:effectLst>
        </p:spPr>
      </p:sp>
      <p:sp>
        <p:nvSpPr>
          <p:cNvPr id="18" name="Circle"/>
          <p:cNvSpPr/>
          <p:nvPr/>
        </p:nvSpPr>
        <p:spPr>
          <a:xfrm>
            <a:off x="9167177" y="2240280"/>
            <a:ext cx="800100" cy="800100"/>
          </a:xfrm>
          <a:prstGeom prst="ellipse">
            <a:avLst/>
          </a:prstGeom>
          <a:solidFill>
            <a:srgbClr val="0B3B25"/>
          </a:solidFill>
          <a:ln/>
        </p:spPr>
      </p:sp>
      <p:pic>
        <p:nvPicPr>
          <p:cNvPr id="19" name="Image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7202" y="2440305"/>
            <a:ext cx="400050" cy="400050"/>
          </a:xfrm>
          <a:prstGeom prst="rect">
            <a:avLst/>
          </a:prstGeom>
        </p:spPr>
      </p:pic>
      <p:sp>
        <p:nvSpPr>
          <p:cNvPr id="20" name="Text"/>
          <p:cNvSpPr/>
          <p:nvPr/>
        </p:nvSpPr>
        <p:spPr>
          <a:xfrm>
            <a:off x="8446770" y="3246120"/>
            <a:ext cx="22409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for Trust</a:t>
            </a:r>
            <a:endParaRPr lang="en-US" sz="1450" dirty="0"/>
          </a:p>
        </p:txBody>
      </p:sp>
      <p:sp>
        <p:nvSpPr>
          <p:cNvPr id="21" name="Text"/>
          <p:cNvSpPr/>
          <p:nvPr/>
        </p:nvSpPr>
        <p:spPr>
          <a:xfrm>
            <a:off x="8538210" y="4023360"/>
            <a:ext cx="2058035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photos and verified profiles — the features the community survey ranked most important — are native to this stack.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HANDYHUB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Value Proposition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0F4A2E"/>
          </a:solidFill>
          <a:ln w="15875">
            <a:solidFill>
              <a:srgbClr val="6E9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“Helping Belhar residents who struggle to find reliable local service providers, through a community-based job connection </a:t>
            </a:r>
            <a:r>
              <a:rPr lang="en-US" sz="1650" i="1" dirty="0" smtClean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platform, </a:t>
            </a:r>
            <a:r>
              <a:rPr lang="en-US" sz="165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they can quickly hire trusted workers while creating employment opportunities.”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B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HandyHub Stands Out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0402A"/>
          </a:solidFill>
          <a:ln w="12700">
            <a:solidFill>
              <a:srgbClr val="1E5B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977640"/>
            <a:ext cx="566928" cy="566928"/>
          </a:xfrm>
          <a:prstGeom prst="ellipse">
            <a:avLst/>
          </a:prstGeom>
          <a:solidFill>
            <a:srgbClr val="6E9B2E"/>
          </a:solidFill>
          <a:ln/>
        </p:spPr>
      </p:sp>
      <p:pic>
        <p:nvPicPr>
          <p:cNvPr id="10" name="Image 0" descr="/home/claude/handyhub/icons/map_0B3B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86" y="4051341"/>
            <a:ext cx="419527" cy="41952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4617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focused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49834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for Belhar — every worker is local, keeping trust and money in the community.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70248" y="37490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0402A"/>
          </a:solidFill>
          <a:ln w="12700">
            <a:solidFill>
              <a:srgbClr val="1E5B3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98848" y="3977640"/>
            <a:ext cx="566928" cy="566928"/>
          </a:xfrm>
          <a:prstGeom prst="ellipse">
            <a:avLst/>
          </a:prstGeom>
          <a:solidFill>
            <a:srgbClr val="6E9B2E"/>
          </a:solidFill>
          <a:ln/>
        </p:spPr>
      </p:sp>
      <p:pic>
        <p:nvPicPr>
          <p:cNvPr id="15" name="Image 1" descr="/home/claude/handyhub/icons/shield_0B3B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549" y="4051341"/>
            <a:ext cx="419527" cy="4195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98848" y="4617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Through Reviews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498848" y="49834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 of residents say reviews and photos of past work are what earns their trust — exactly what HandyHub delivers.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91856" y="37490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0402A"/>
          </a:solidFill>
          <a:ln w="12700">
            <a:solidFill>
              <a:srgbClr val="1E5B3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0456" y="3977640"/>
            <a:ext cx="566928" cy="566928"/>
          </a:xfrm>
          <a:prstGeom prst="ellipse">
            <a:avLst/>
          </a:prstGeom>
          <a:solidFill>
            <a:srgbClr val="6E9B2E"/>
          </a:solidFill>
          <a:ln/>
        </p:spPr>
      </p:sp>
      <p:pic>
        <p:nvPicPr>
          <p:cNvPr id="20" name="Image 2" descr="/home/claude/handyhub/icons/seedling_0B3B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4157" y="4051341"/>
            <a:ext cx="419527" cy="41952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0456" y="46177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Unemployment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220456" y="49834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job-creation tool, not just an app — skilled but unemployed residents find paid work without costly advertising.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HANDYHUB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 We Serve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of one community marketplace.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5321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76200" dist="25400" dir="5400000" algn="bl" rotWithShape="0">
              <a:srgbClr val="6B8E77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0B3B25"/>
          </a:solidFill>
          <a:ln/>
        </p:spPr>
      </p:sp>
      <p:pic>
        <p:nvPicPr>
          <p:cNvPr id="8" name="Image 0" descr="/home/claude/handyhub/icons/hom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" y="2055114"/>
            <a:ext cx="507492" cy="5074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0848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Resident (Customer)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28803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9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31181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</a:t>
            </a:r>
            <a:r>
              <a:rPr lang="en-US" sz="13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35661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9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38039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R3,000–R12,000/month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42519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9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COMFORT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44897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WhatsApp, Facebook &amp; basic apps daily.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14400" y="4956048"/>
            <a:ext cx="4800600" cy="12802"/>
          </a:xfrm>
          <a:prstGeom prst="rect">
            <a:avLst/>
          </a:prstGeom>
          <a:solidFill>
            <a:srgbClr val="DCE6DD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51206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4400" y="5358384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find reliable, trustworthy local workers quickly or safely.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080760" y="1691640"/>
            <a:ext cx="55321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76200" dist="25400" dir="5400000" algn="bl" rotWithShape="0">
              <a:srgbClr val="6B8E77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0" y="1965960"/>
            <a:ext cx="685800" cy="685800"/>
          </a:xfrm>
          <a:prstGeom prst="ellipse">
            <a:avLst/>
          </a:prstGeom>
          <a:solidFill>
            <a:srgbClr val="0B3B25"/>
          </a:solidFill>
          <a:ln/>
        </p:spPr>
      </p:sp>
      <p:pic>
        <p:nvPicPr>
          <p:cNvPr id="21" name="Image 1" descr="/home/claude/handyhub/icons/tool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954" y="2055114"/>
            <a:ext cx="507492" cy="50749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69480" y="20848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Worker (Service Provider)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446520" y="28803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9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446520" y="31181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446520" y="35661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9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446520" y="38039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R0–R8,000/month (informal)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446520" y="42519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9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COMFORT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446520" y="44897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WhatsApp &amp; social media comfortably.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446520" y="4956048"/>
            <a:ext cx="4800600" cy="12802"/>
          </a:xfrm>
          <a:prstGeom prst="rect">
            <a:avLst/>
          </a:prstGeom>
          <a:solidFill>
            <a:srgbClr val="DCE6DD"/>
          </a:solidFill>
          <a:ln/>
        </p:spPr>
      </p:sp>
      <p:sp>
        <p:nvSpPr>
          <p:cNvPr id="30" name="Text 26"/>
          <p:cNvSpPr/>
          <p:nvPr/>
        </p:nvSpPr>
        <p:spPr>
          <a:xfrm>
            <a:off x="6446520" y="51206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446520" y="5358384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to find consistent work despite having useful skills.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HANDYHUB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Reaching Belhar: Channels &amp; Timing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CB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MARKET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10402A"/>
          </a:solidFill>
          <a:ln/>
        </p:spPr>
      </p:sp>
      <p:pic>
        <p:nvPicPr>
          <p:cNvPr id="7" name="Image 0" descr="/home/claude/handyhub/icons/whatsapp_6E9B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180274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flyer campaign in community &amp; family groups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95728"/>
            <a:ext cx="502920" cy="502920"/>
          </a:xfrm>
          <a:prstGeom prst="ellipse">
            <a:avLst/>
          </a:prstGeom>
          <a:solidFill>
            <a:srgbClr val="10402A"/>
          </a:solidFill>
          <a:ln/>
        </p:spPr>
      </p:sp>
      <p:pic>
        <p:nvPicPr>
          <p:cNvPr id="10" name="Image 1" descr="/home/claude/handyhub/icons/facebook_6E9B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2461108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4414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community page &amp; existing local groups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054096"/>
            <a:ext cx="502920" cy="502920"/>
          </a:xfrm>
          <a:prstGeom prst="ellipse">
            <a:avLst/>
          </a:prstGeom>
          <a:solidFill>
            <a:srgbClr val="10402A"/>
          </a:solidFill>
          <a:ln/>
        </p:spPr>
      </p:sp>
      <p:pic>
        <p:nvPicPr>
          <p:cNvPr id="13" name="Image 2" descr="/home/claude/handyhub/icons/instagram_6E9B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20" y="311947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998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posts of app screens &amp; success stories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712464"/>
            <a:ext cx="502920" cy="502920"/>
          </a:xfrm>
          <a:prstGeom prst="ellipse">
            <a:avLst/>
          </a:prstGeom>
          <a:solidFill>
            <a:srgbClr val="10402A"/>
          </a:solidFill>
          <a:ln/>
        </p:spPr>
      </p:sp>
      <p:pic>
        <p:nvPicPr>
          <p:cNvPr id="16" name="Image 3" descr="/home/claude/handyhub/icons/bullhorn_6E9B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020" y="3777844"/>
            <a:ext cx="372161" cy="37216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7581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flyers at shops, churches, schools &amp; taxi ranks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035040" y="1325880"/>
            <a:ext cx="5623560" cy="4754880"/>
          </a:xfrm>
          <a:prstGeom prst="roundRect">
            <a:avLst>
              <a:gd name="adj" fmla="val 1923"/>
            </a:avLst>
          </a:prstGeom>
          <a:solidFill>
            <a:srgbClr val="0F4A2E"/>
          </a:solidFill>
          <a:ln w="12700">
            <a:solidFill>
              <a:srgbClr val="1E5B39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35508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CB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MARKET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5508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Payday Window (25th–31st)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355080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promotions when residents have income to spend on repairs.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355080" y="2953512"/>
            <a:ext cx="100584" cy="100584"/>
          </a:xfrm>
          <a:prstGeom prst="ellipse">
            <a:avLst/>
          </a:prstGeom>
          <a:solidFill>
            <a:srgbClr val="D98A1E"/>
          </a:solidFill>
          <a:ln/>
        </p:spPr>
      </p:sp>
      <p:sp>
        <p:nvSpPr>
          <p:cNvPr id="23" name="Text 17"/>
          <p:cNvSpPr/>
          <p:nvPr/>
        </p:nvSpPr>
        <p:spPr>
          <a:xfrm>
            <a:off x="6601968" y="27889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(May–Aug)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601968" y="3063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 leaks, electrical, waterproofing, indoor painting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355080" y="3611880"/>
            <a:ext cx="100584" cy="100584"/>
          </a:xfrm>
          <a:prstGeom prst="ellipse">
            <a:avLst/>
          </a:prstGeom>
          <a:solidFill>
            <a:srgbClr val="D98A1E"/>
          </a:solidFill>
          <a:ln/>
        </p:spPr>
      </p:sp>
      <p:sp>
        <p:nvSpPr>
          <p:cNvPr id="26" name="Text 20"/>
          <p:cNvSpPr/>
          <p:nvPr/>
        </p:nvSpPr>
        <p:spPr>
          <a:xfrm>
            <a:off x="6601968" y="34472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(Sep–Oct)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601968" y="37216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work, painting, spring cleaning &amp; maintenance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355080" y="4270248"/>
            <a:ext cx="100584" cy="100584"/>
          </a:xfrm>
          <a:prstGeom prst="ellipse">
            <a:avLst/>
          </a:prstGeom>
          <a:solidFill>
            <a:srgbClr val="D98A1E"/>
          </a:solidFill>
          <a:ln/>
        </p:spPr>
      </p:sp>
      <p:sp>
        <p:nvSpPr>
          <p:cNvPr id="29" name="Text 23"/>
          <p:cNvSpPr/>
          <p:nvPr/>
        </p:nvSpPr>
        <p:spPr>
          <a:xfrm>
            <a:off x="6601968" y="410565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(Nov–Feb)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601968" y="437997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painting, cleaning, festive-season prep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355080" y="499262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8CB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days: weekends &amp; weekday evenings after 6pm, when residents are home and browsing social media.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HANDYHUB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Feasibility: Lean Enough to Launch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6E9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STARTUP COSTS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806440" cy="402336"/>
          </a:xfrm>
          <a:prstGeom prst="rect">
            <a:avLst/>
          </a:prstGeom>
          <a:solidFill>
            <a:srgbClr val="E8F0E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19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(design tool)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720" y="171907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214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21214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R150 – R300 / yr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5806440" cy="402336"/>
          </a:xfrm>
          <a:prstGeom prst="rect">
            <a:avLst/>
          </a:prstGeom>
          <a:solidFill>
            <a:srgbClr val="E8F0E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237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web hosting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252374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R500 – R1,000 / yr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materials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92608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R300 – R500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5806440" cy="402336"/>
          </a:xfrm>
          <a:prstGeom prst="rect">
            <a:avLst/>
          </a:prstGeom>
          <a:solidFill>
            <a:srgbClr val="E8F0E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284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332841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R200 – R400 / 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7307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ads (optional)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373075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R200 – R500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42816"/>
            <a:ext cx="5806440" cy="594360"/>
          </a:xfrm>
          <a:prstGeom prst="roundRect">
            <a:avLst>
              <a:gd name="adj" fmla="val 12308"/>
            </a:avLst>
          </a:prstGeom>
          <a:solidFill>
            <a:srgbClr val="0B3B25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24281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MVP COST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06240" y="4242816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8A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R1,350 – R2,700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20840" y="1280160"/>
            <a:ext cx="4937760" cy="4160520"/>
          </a:xfrm>
          <a:prstGeom prst="roundRect">
            <a:avLst>
              <a:gd name="adj" fmla="val 2198"/>
            </a:avLst>
          </a:prstGeom>
          <a:solidFill>
            <a:srgbClr val="0F4A2E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463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CB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VIABLE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95160" y="1920240"/>
            <a:ext cx="457200" cy="457200"/>
          </a:xfrm>
          <a:prstGeom prst="ellipse">
            <a:avLst/>
          </a:prstGeom>
          <a:solidFill>
            <a:srgbClr val="10402A"/>
          </a:solidFill>
          <a:ln/>
        </p:spPr>
      </p:sp>
      <p:pic>
        <p:nvPicPr>
          <p:cNvPr id="27" name="Image 0" descr="/home/claude/handyhub/icons/check_6E9B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596" y="1979676"/>
            <a:ext cx="338328" cy="33832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589520" y="193852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demand: 100% of surveyed residents need services and would use an app.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995160" y="2761488"/>
            <a:ext cx="457200" cy="457200"/>
          </a:xfrm>
          <a:prstGeom prst="ellipse">
            <a:avLst/>
          </a:prstGeom>
          <a:solidFill>
            <a:srgbClr val="10402A"/>
          </a:solidFill>
          <a:ln/>
        </p:spPr>
      </p:sp>
      <p:pic>
        <p:nvPicPr>
          <p:cNvPr id="30" name="Image 1" descr="/home/claude/handyhub/icons/money_6E9B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596" y="2820924"/>
            <a:ext cx="338328" cy="33832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589520" y="2779776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entry cost: full MVP launches for under R3,000, using free tools.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995160" y="3602736"/>
            <a:ext cx="457200" cy="457200"/>
          </a:xfrm>
          <a:prstGeom prst="ellipse">
            <a:avLst/>
          </a:prstGeom>
          <a:solidFill>
            <a:srgbClr val="10402A"/>
          </a:solidFill>
          <a:ln/>
        </p:spPr>
      </p:sp>
      <p:pic>
        <p:nvPicPr>
          <p:cNvPr id="33" name="Image 2" descr="/home/claude/handyhub/icons/clipboard_6E9B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596" y="3662172"/>
            <a:ext cx="338328" cy="33832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589520" y="3621024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already designed and ready to test in Figma.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995160" y="4443984"/>
            <a:ext cx="457200" cy="457200"/>
          </a:xfrm>
          <a:prstGeom prst="ellipse">
            <a:avLst/>
          </a:prstGeom>
          <a:solidFill>
            <a:srgbClr val="10402A"/>
          </a:solidFill>
          <a:ln/>
        </p:spPr>
      </p:sp>
      <p:pic>
        <p:nvPicPr>
          <p:cNvPr id="36" name="Image 3" descr="/home/claude/handyhub/icons/handshake_6E9B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596" y="4503420"/>
            <a:ext cx="338328" cy="33832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589520" y="446227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skills (design, research, marketing) match the MVP phase exactly.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HANDYHUB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Risks We're </a:t>
            </a:r>
            <a:r>
              <a:rPr lang="en-US" sz="2800" b="1" dirty="0" smtClean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Watching and </a:t>
            </a: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Managing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78608" cy="4572000"/>
          </a:xfrm>
          <a:prstGeom prst="roundRect">
            <a:avLst>
              <a:gd name="adj" fmla="val 3546"/>
            </a:avLst>
          </a:prstGeom>
          <a:solidFill>
            <a:srgbClr val="10402A"/>
          </a:solidFill>
          <a:ln w="12700">
            <a:solidFill>
              <a:srgbClr val="1E5B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63624" y="1645920"/>
            <a:ext cx="548640" cy="548640"/>
          </a:xfrm>
          <a:prstGeom prst="ellipse">
            <a:avLst/>
          </a:prstGeom>
          <a:solidFill>
            <a:srgbClr val="D98A1E"/>
          </a:solidFill>
          <a:ln/>
        </p:spPr>
      </p:sp>
      <p:pic>
        <p:nvPicPr>
          <p:cNvPr id="7" name="Image 0" descr="/home/claude/handyhub/icons/warning_0B3B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632" y="1683761"/>
            <a:ext cx="405994" cy="4059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33172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3232" y="274320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smartphone/data access could limit reach.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3840480"/>
            <a:ext cx="2029968" cy="10973"/>
          </a:xfrm>
          <a:prstGeom prst="rect">
            <a:avLst/>
          </a:prstGeom>
          <a:solidFill>
            <a:srgbClr val="6E9B2E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3950208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8CB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13232" y="4206240"/>
            <a:ext cx="22494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WhatsApp-first, low-data flow with a basic call-in option.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46704" y="1417320"/>
            <a:ext cx="2578608" cy="4572000"/>
          </a:xfrm>
          <a:prstGeom prst="roundRect">
            <a:avLst>
              <a:gd name="adj" fmla="val 3546"/>
            </a:avLst>
          </a:prstGeom>
          <a:solidFill>
            <a:srgbClr val="10402A"/>
          </a:solidFill>
          <a:ln w="12700">
            <a:solidFill>
              <a:srgbClr val="1E5B3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61688" y="1645920"/>
            <a:ext cx="548640" cy="548640"/>
          </a:xfrm>
          <a:prstGeom prst="ellipse">
            <a:avLst/>
          </a:prstGeom>
          <a:solidFill>
            <a:srgbClr val="D98A1E"/>
          </a:solidFill>
          <a:ln/>
        </p:spPr>
      </p:sp>
      <p:pic>
        <p:nvPicPr>
          <p:cNvPr id="15" name="Image 1" descr="/home/claude/handyhub/icons/money_0B3B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011" y="1717243"/>
            <a:ext cx="405994" cy="4059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83864" y="233172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511296" y="274320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revenue model yet to fund full development.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21024" y="3840480"/>
            <a:ext cx="2029968" cy="10973"/>
          </a:xfrm>
          <a:prstGeom prst="rect">
            <a:avLst/>
          </a:prstGeom>
          <a:solidFill>
            <a:srgbClr val="6E9B2E"/>
          </a:solidFill>
          <a:ln/>
        </p:spPr>
      </p:sp>
      <p:sp>
        <p:nvSpPr>
          <p:cNvPr id="19" name="Text 15"/>
          <p:cNvSpPr/>
          <p:nvPr/>
        </p:nvSpPr>
        <p:spPr>
          <a:xfrm>
            <a:off x="3511296" y="3950208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8CB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511296" y="4206240"/>
            <a:ext cx="22494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free no-code tools; explore SEDA/NYDA youth funding.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144768" y="1417320"/>
            <a:ext cx="2578608" cy="4572000"/>
          </a:xfrm>
          <a:prstGeom prst="roundRect">
            <a:avLst>
              <a:gd name="adj" fmla="val 3546"/>
            </a:avLst>
          </a:prstGeom>
          <a:solidFill>
            <a:srgbClr val="10402A"/>
          </a:solidFill>
          <a:ln w="12700">
            <a:solidFill>
              <a:srgbClr val="1E5B3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59752" y="1645920"/>
            <a:ext cx="548640" cy="548640"/>
          </a:xfrm>
          <a:prstGeom prst="ellipse">
            <a:avLst/>
          </a:prstGeom>
          <a:solidFill>
            <a:srgbClr val="D98A1E"/>
          </a:solidFill>
          <a:ln/>
        </p:spPr>
      </p:sp>
      <p:pic>
        <p:nvPicPr>
          <p:cNvPr id="23" name="Image 2" descr="/home/claude/handyhub/icons/shield_0B3B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075" y="1717243"/>
            <a:ext cx="405994" cy="40599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81928" y="233172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309360" y="274320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verify worker quality up front.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419088" y="3840480"/>
            <a:ext cx="2029968" cy="10973"/>
          </a:xfrm>
          <a:prstGeom prst="rect">
            <a:avLst/>
          </a:prstGeom>
          <a:solidFill>
            <a:srgbClr val="6E9B2E"/>
          </a:solidFill>
          <a:ln/>
        </p:spPr>
      </p:sp>
      <p:sp>
        <p:nvSpPr>
          <p:cNvPr id="27" name="Text 22"/>
          <p:cNvSpPr/>
          <p:nvPr/>
        </p:nvSpPr>
        <p:spPr>
          <a:xfrm>
            <a:off x="6309360" y="3950208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8CB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309360" y="4206240"/>
            <a:ext cx="22494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review/rating system; onboard recommended workers first.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942832" y="1417320"/>
            <a:ext cx="2578608" cy="4572000"/>
          </a:xfrm>
          <a:prstGeom prst="roundRect">
            <a:avLst>
              <a:gd name="adj" fmla="val 3546"/>
            </a:avLst>
          </a:prstGeom>
          <a:solidFill>
            <a:srgbClr val="10402A"/>
          </a:solidFill>
          <a:ln w="12700">
            <a:solidFill>
              <a:srgbClr val="1E5B3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957816" y="1645920"/>
            <a:ext cx="548640" cy="548640"/>
          </a:xfrm>
          <a:prstGeom prst="ellipse">
            <a:avLst/>
          </a:prstGeom>
          <a:solidFill>
            <a:srgbClr val="D98A1E"/>
          </a:solidFill>
          <a:ln/>
        </p:spPr>
      </p:sp>
      <p:pic>
        <p:nvPicPr>
          <p:cNvPr id="31" name="Image 3" descr="/home/claude/handyhub/icons/users_0B3B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9139" y="1717243"/>
            <a:ext cx="405994" cy="40599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079992" y="233172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Risk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9107424" y="2743200"/>
            <a:ext cx="2249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may stick with informal WhatsApp groups.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217152" y="3840480"/>
            <a:ext cx="2029968" cy="10973"/>
          </a:xfrm>
          <a:prstGeom prst="rect">
            <a:avLst/>
          </a:prstGeom>
          <a:solidFill>
            <a:srgbClr val="6E9B2E"/>
          </a:solidFill>
          <a:ln/>
        </p:spPr>
      </p:sp>
      <p:sp>
        <p:nvSpPr>
          <p:cNvPr id="35" name="Text 29"/>
          <p:cNvSpPr/>
          <p:nvPr/>
        </p:nvSpPr>
        <p:spPr>
          <a:xfrm>
            <a:off x="9107424" y="3950208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8CB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9107424" y="4206240"/>
            <a:ext cx="224942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clear advantages via demos and success stories.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HANDYHUB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2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Testing HandyHub: Our MVP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7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validate demand with our Figma prototype before building a full app.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6E9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63500" dist="25400" dir="5400000" algn="bl" rotWithShape="0">
              <a:srgbClr val="6B8E77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2402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8A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sign-ups via Google Form pre-registration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63500" dist="25400" dir="5400000" algn="bl" rotWithShape="0">
              <a:srgbClr val="6B8E77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22402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8A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0440" y="28803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workers express interest in listing services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63500" dist="25400" dir="5400000" algn="bl" rotWithShape="0">
              <a:srgbClr val="6B8E77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2402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8A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55080" y="28803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social media interactions across channels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210312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  <a:effectLst>
            <a:outerShdw blurRad="63500" dist="25400" dir="5400000" algn="bl" rotWithShape="0">
              <a:srgbClr val="6B8E77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9720" y="22402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8A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89720" y="28803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2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prototype viewers say they'd use HandyHub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0881360" cy="1783080"/>
          </a:xfrm>
          <a:prstGeom prst="roundRect">
            <a:avLst>
              <a:gd name="adj" fmla="val 6154"/>
            </a:avLst>
          </a:prstGeom>
          <a:solidFill>
            <a:srgbClr val="0B3B25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434840"/>
            <a:ext cx="777240" cy="777240"/>
          </a:xfrm>
          <a:prstGeom prst="ellipse">
            <a:avLst/>
          </a:prstGeom>
          <a:solidFill>
            <a:srgbClr val="6E9B2E"/>
          </a:solidFill>
          <a:ln/>
        </p:spPr>
      </p:sp>
      <p:pic>
        <p:nvPicPr>
          <p:cNvPr id="21" name="Image 0" descr="/home/claude/handyhub/icons/seedling_0B3B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21" y="4535881"/>
            <a:ext cx="575158" cy="57515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874520" y="44805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Building Belhar, One Trusted Job at a Time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1874520" y="493776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our targets are met, we'll build a functional no-code app or partner with a developer. If not, we'll refine the concept using what the community tells us.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479903623FB64280242199B0048742" ma:contentTypeVersion="13" ma:contentTypeDescription="Create a new document." ma:contentTypeScope="" ma:versionID="2d1313eefe722532a239c72204b190f3">
  <xsd:schema xmlns:xsd="http://www.w3.org/2001/XMLSchema" xmlns:xs="http://www.w3.org/2001/XMLSchema" xmlns:p="http://schemas.microsoft.com/office/2006/metadata/properties" xmlns:ns2="c24994f9-df2a-42e9-9aba-7df4739d2b7f" xmlns:ns3="ad7b9bf4-a9c3-4aee-929f-9583f0677ab0" targetNamespace="http://schemas.microsoft.com/office/2006/metadata/properties" ma:root="true" ma:fieldsID="1af3416bdd7d274d3c2e409b8bc71513" ns2:_="" ns3:_="">
    <xsd:import namespace="c24994f9-df2a-42e9-9aba-7df4739d2b7f"/>
    <xsd:import namespace="ad7b9bf4-a9c3-4aee-929f-9583f0677ab0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4994f9-df2a-42e9-9aba-7df4739d2b7f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5e3dbb5-1c39-4b84-a331-5f88e37a26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7b9bf4-a9c3-4aee-929f-9583f0677ab0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20b3ca1-9d38-4cea-908f-56ad27ff75a7}" ma:internalName="TaxCatchAll" ma:showField="CatchAllData" ma:web="ad7b9bf4-a9c3-4aee-929f-9583f0677a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7b9bf4-a9c3-4aee-929f-9583f0677ab0" xsi:nil="true"/>
    <lcf76f155ced4ddcb4097134ff3c332f xmlns="c24994f9-df2a-42e9-9aba-7df4739d2b7f">
      <Terms xmlns="http://schemas.microsoft.com/office/infopath/2007/PartnerControls"/>
    </lcf76f155ced4ddcb4097134ff3c332f>
    <ReferenceId xmlns="c24994f9-df2a-42e9-9aba-7df4739d2b7f" xsi:nil="true"/>
  </documentManagement>
</p:properties>
</file>

<file path=customXml/itemProps1.xml><?xml version="1.0" encoding="utf-8"?>
<ds:datastoreItem xmlns:ds="http://schemas.openxmlformats.org/officeDocument/2006/customXml" ds:itemID="{9C436109-91ED-40F2-A422-9BFDD3E4FA12}"/>
</file>

<file path=customXml/itemProps2.xml><?xml version="1.0" encoding="utf-8"?>
<ds:datastoreItem xmlns:ds="http://schemas.openxmlformats.org/officeDocument/2006/customXml" ds:itemID="{B43D72B5-33BF-4375-9A6F-25EF9E8ED68E}"/>
</file>

<file path=customXml/itemProps3.xml><?xml version="1.0" encoding="utf-8"?>
<ds:datastoreItem xmlns:ds="http://schemas.openxmlformats.org/officeDocument/2006/customXml" ds:itemID="{C71A2774-267D-4BC5-8E55-3F05C4492FEF}"/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1435</Words>
  <Application>Microsoft Office PowerPoint</Application>
  <PresentationFormat>Widescreen</PresentationFormat>
  <Paragraphs>223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Zahrah Vermaak</cp:lastModifiedBy>
  <cp:revision>8</cp:revision>
  <dcterms:created xsi:type="dcterms:W3CDTF">2026-07-15T19:22:22Z</dcterms:created>
  <dcterms:modified xsi:type="dcterms:W3CDTF">2026-07-22T19:19:34Z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0x01010065479903623FB64280242199B0048742</vt:lpwstr>
  </property>
</Properties>
</file>