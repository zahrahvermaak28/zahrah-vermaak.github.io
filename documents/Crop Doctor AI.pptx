
<file path=[Content_Types].xml><?xml version="1.0" encoding="utf-8"?>
<Types xmlns="http://schemas.openxmlformats.org/package/2006/content-types">
  <Default ContentType="image/gif" Extension="gif"/>
  <Default ContentType="image/jpeg" Extension="jpeg"/>
  <Default ContentType="image/jpg" Extension="jpg"/>
  <Default ContentType="video/mp4" Extension="m4v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vnd.openxmlformats-officedocument.vmlDrawing" Extension="vml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docProps/app.xml" Type="http://schemas.openxmlformats.org/officeDocument/2006/relationships/extended-properties"/><Relationship Id="rId2" Target="docProps/core.xml" Type="http://schemas.openxmlformats.org/package/2006/relationships/metadata/core-properties"/><Relationship Id="rId3" Target="ppt/presentation.xml" Type="http://schemas.openxmlformats.org/officeDocument/2006/relationships/officeDocumen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4.xml" Type="http://schemas.openxmlformats.org/officeDocument/2006/relationships/slide"/><Relationship Id="rId11" Target="slides/slide5.xml" Type="http://schemas.openxmlformats.org/officeDocument/2006/relationships/slide"/><Relationship Id="rId12" Target="slides/slide6.xml" Type="http://schemas.openxmlformats.org/officeDocument/2006/relationships/slide"/><Relationship Id="rId13" Target="slides/slide7.xml" Type="http://schemas.openxmlformats.org/officeDocument/2006/relationships/slide"/><Relationship Id="rId14" Target="slides/slide8.xml" Type="http://schemas.openxmlformats.org/officeDocument/2006/relationships/slide"/><Relationship Id="rId15" Target="slides/slide9.xml" Type="http://schemas.openxmlformats.org/officeDocument/2006/relationships/slide"/><Relationship Id="rId2" Target="slides/slide1.xml" Type="http://schemas.openxmlformats.org/officeDocument/2006/relationships/slide"/><Relationship Id="rId4" Target="presProps.xml" Type="http://schemas.openxmlformats.org/officeDocument/2006/relationships/presProps"/><Relationship Id="rId5" Target="viewProps.xml" Type="http://schemas.openxmlformats.org/officeDocument/2006/relationships/viewProps"/><Relationship Id="rId6" Target="theme/theme1.xml" Type="http://schemas.openxmlformats.org/officeDocument/2006/relationships/theme"/><Relationship Id="rId7" Target="tableStyles.xml" Type="http://schemas.openxmlformats.org/officeDocument/2006/relationships/tableStyles"/><Relationship Id="rId8" Target="slides/slide2.xml" Type="http://schemas.openxmlformats.org/officeDocument/2006/relationships/slide"/><Relationship Id="rId9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media/image-1-1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media/image2.png" Type="http://schemas.openxmlformats.org/officeDocument/2006/relationships/image"/><Relationship Id="rId3" Target="../slideLayouts/slideLayout1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media/image3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media/image4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media/image5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media/image6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media/image7.png" Type="http://schemas.openxmlformats.org/officeDocument/2006/relationships/image"/><Relationship Id="rId2" Target="../media/image8.png" Type="http://schemas.openxmlformats.org/officeDocument/2006/relationships/image"/><Relationship Id="rId3" Target="../slideLayouts/slideLayout1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media/image9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media/image10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1"/>
          <p:cNvSpPr/>
          <p:nvPr/>
        </p:nvSpPr>
        <p:spPr>
          <a:xfrm>
            <a:off x="1104900" y="1521172"/>
            <a:ext cx="2908250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315" sz="1050">
                <a:solidFill>
                  <a:srgbClr val="F59E0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DIAGNOSTIC SYSTEM ACTIVE</a:t>
            </a:r>
            <a:endParaRPr dirty="0" lang="en" sz="1050"/>
          </a:p>
        </p:txBody>
      </p:sp>
      <p:sp>
        <p:nvSpPr>
          <p:cNvPr id="4" name="TextBox 38"/>
          <p:cNvSpPr/>
          <p:nvPr/>
        </p:nvSpPr>
        <p:spPr>
          <a:xfrm>
            <a:off x="914400" y="1940272"/>
            <a:ext cx="5791200" cy="207258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8160"/>
              </a:lnSpc>
              <a:buNone/>
            </a:pPr>
            <a:r>
              <a:rPr altLang="en-US" b="1" dirty="0" kern="0" lang="en" spc="-192" sz="9600">
                <a:solidFill>
                  <a:srgbClr val="FFFFFF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Crop</a:t>
            </a:r>
            <a:endParaRPr dirty="0" lang="en" sz="9600"/>
          </a:p>
          <a:p>
            <a:pPr algn="l" indent="0" marL="0">
              <a:lnSpc>
                <a:spcPts val="8160"/>
              </a:lnSpc>
              <a:buNone/>
            </a:pPr>
            <a:r>
              <a:rPr altLang="en-US" b="1" dirty="0" kern="0" lang="en" spc="-192" sz="9600">
                <a:solidFill>
                  <a:srgbClr val="FFFFFF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Doctor AI</a:t>
            </a:r>
            <a:endParaRPr dirty="0" lang="en" sz="9600"/>
          </a:p>
        </p:txBody>
      </p:sp>
      <p:sp>
        <p:nvSpPr>
          <p:cNvPr id="5" name="TextBox 47"/>
          <p:cNvSpPr/>
          <p:nvPr/>
        </p:nvSpPr>
        <p:spPr>
          <a:xfrm>
            <a:off x="914400" y="4708178"/>
            <a:ext cx="4876800" cy="62865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2475"/>
              </a:lnSpc>
              <a:buNone/>
            </a:pPr>
            <a:r>
              <a:rPr altLang="en-US" dirty="0" kern="0" lang="en" spc="-45" sz="1800">
                <a:solidFill>
                  <a:srgbClr val="FFFFFF">
                    <a:alpha val="90000"/>
                  </a:srgbClr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An End-to-End AI Solution for</a:t>
            </a:r>
            <a:endParaRPr dirty="0" lang="en" sz="1800"/>
          </a:p>
          <a:p>
            <a:pPr algn="l" indent="0" marL="0">
              <a:lnSpc>
                <a:spcPts val="2475"/>
              </a:lnSpc>
              <a:buNone/>
            </a:pPr>
            <a:r>
              <a:rPr altLang="en-US" dirty="0" kern="0" lang="en" spc="-45" sz="1800">
                <a:solidFill>
                  <a:srgbClr val="FFFFFF">
                    <a:alpha val="90000"/>
                  </a:srgbClr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Plant Disease Diagnosis</a:t>
            </a:r>
            <a:endParaRPr dirty="0" lang="en" sz="1800"/>
          </a:p>
        </p:txBody>
      </p:sp>
      <p:sp>
        <p:nvSpPr>
          <p:cNvPr id="6" name="TextBox 56"/>
          <p:cNvSpPr/>
          <p:nvPr/>
        </p:nvSpPr>
        <p:spPr>
          <a:xfrm>
            <a:off x="914400" y="5915025"/>
            <a:ext cx="2011561" cy="1428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75" sz="750">
                <a:solidFill>
                  <a:srgbClr val="FFFFFF">
                    <a:alpha val="40000"/>
                  </a:srgbClr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PROJECT CLASSIFICATION</a:t>
            </a:r>
            <a:endParaRPr dirty="0" lang="en" sz="750"/>
          </a:p>
        </p:txBody>
      </p:sp>
      <p:sp>
        <p:nvSpPr>
          <p:cNvPr id="7" name="TextBox 58"/>
          <p:cNvSpPr/>
          <p:nvPr/>
        </p:nvSpPr>
        <p:spPr>
          <a:xfrm>
            <a:off x="914400" y="6096000"/>
            <a:ext cx="2011561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FFFFFF">
                    <a:alpha val="80000"/>
                  </a:srgbClr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Capstone Series // AGRO-PRECISION</a:t>
            </a:r>
            <a:endParaRPr dirty="0" lang="en" sz="900"/>
          </a:p>
        </p:txBody>
      </p:sp>
      <p:sp>
        <p:nvSpPr>
          <p:cNvPr id="8" name="TextBox 63"/>
          <p:cNvSpPr/>
          <p:nvPr/>
        </p:nvSpPr>
        <p:spPr>
          <a:xfrm>
            <a:off x="3383161" y="5915025"/>
            <a:ext cx="1016050" cy="1428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75" sz="750">
                <a:solidFill>
                  <a:srgbClr val="FFFFFF">
                    <a:alpha val="40000"/>
                  </a:srgbClr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PHASE</a:t>
            </a:r>
            <a:endParaRPr dirty="0" lang="en" sz="750"/>
          </a:p>
        </p:txBody>
      </p:sp>
      <p:sp>
        <p:nvSpPr>
          <p:cNvPr id="9" name="TextBox 65"/>
          <p:cNvSpPr/>
          <p:nvPr/>
        </p:nvSpPr>
        <p:spPr>
          <a:xfrm>
            <a:off x="3383161" y="6096000"/>
            <a:ext cx="101605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FFFFFF">
                    <a:alpha val="80000"/>
                  </a:srgbClr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Deployment Ready</a:t>
            </a:r>
            <a:endParaRPr dirty="0" lang="en" sz="900"/>
          </a:p>
        </p:txBody>
      </p:sp>
      <p:sp>
        <p:nvSpPr>
          <p:cNvPr id="10" name="TextBox 79"/>
          <p:cNvSpPr/>
          <p:nvPr/>
        </p:nvSpPr>
        <p:spPr>
          <a:xfrm>
            <a:off x="10167640" y="1905000"/>
            <a:ext cx="1414760" cy="1428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-37" sz="750">
                <a:solidFill>
                  <a:srgbClr val="FFFFFF">
                    <a:alpha val="16000"/>
                  </a:srgbClr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SCAN_COORD: 45.321 / 90.012</a:t>
            </a:r>
            <a:endParaRPr dirty="0" lang="en" sz="750"/>
          </a:p>
        </p:txBody>
      </p:sp>
      <p:sp>
        <p:nvSpPr>
          <p:cNvPr id="11" name="TextBox 86"/>
          <p:cNvSpPr/>
          <p:nvPr/>
        </p:nvSpPr>
        <p:spPr>
          <a:xfrm>
            <a:off x="10671721" y="5610225"/>
            <a:ext cx="910679" cy="571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altLang="en-US" b="1" dirty="0" lang="en" sz="3600">
                <a:solidFill>
                  <a:srgbClr val="F59E0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01</a:t>
            </a:r>
            <a:endParaRPr dirty="0" lang="en" sz="3600"/>
          </a:p>
        </p:txBody>
      </p:sp>
      <p:sp>
        <p:nvSpPr>
          <p:cNvPr id="12" name="TextBox 88"/>
          <p:cNvSpPr/>
          <p:nvPr/>
        </p:nvSpPr>
        <p:spPr>
          <a:xfrm>
            <a:off x="10671721" y="6105525"/>
            <a:ext cx="910679" cy="1428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altLang="en-US" b="1" dirty="0" kern="0" lang="en" spc="150" sz="750">
                <a:solidFill>
                  <a:srgbClr val="FFFFFF">
                    <a:alpha val="40000"/>
                  </a:srgbClr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INITIAL STATE</a:t>
            </a:r>
            <a:endParaRPr dirty="0" lang="en" sz="75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descr="__type_image" id="3" name="Pictur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028825"/>
            <a:ext cx="5086350" cy="4114800"/>
          </a:xfrm>
          <a:prstGeom prst="rect">
            <a:avLst/>
          </a:prstGeom>
        </p:spPr>
      </p:pic>
      <p:sp>
        <p:nvSpPr>
          <p:cNvPr id="4" name="TextBox 17"/>
          <p:cNvSpPr/>
          <p:nvPr/>
        </p:nvSpPr>
        <p:spPr>
          <a:xfrm>
            <a:off x="762000" y="381000"/>
            <a:ext cx="10668000" cy="166688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105" sz="105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CORE FUNCTIONALITY</a:t>
            </a:r>
            <a:endParaRPr dirty="0" lang="en" sz="1050"/>
          </a:p>
        </p:txBody>
      </p:sp>
      <p:sp>
        <p:nvSpPr>
          <p:cNvPr id="5" name="TextBox 19"/>
          <p:cNvSpPr/>
          <p:nvPr/>
        </p:nvSpPr>
        <p:spPr>
          <a:xfrm>
            <a:off x="762000" y="590550"/>
            <a:ext cx="10668000" cy="4762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30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Project Overview</a:t>
            </a:r>
            <a:endParaRPr dirty="0" lang="en" sz="3000"/>
          </a:p>
        </p:txBody>
      </p:sp>
      <p:sp>
        <p:nvSpPr>
          <p:cNvPr id="6" name="TextBox 34"/>
          <p:cNvSpPr/>
          <p:nvPr/>
        </p:nvSpPr>
        <p:spPr>
          <a:xfrm>
            <a:off x="1028700" y="1943100"/>
            <a:ext cx="4610100" cy="297061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8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A 'doctor in your pocket' for every farmer.</a:t>
            </a:r>
            <a:endParaRPr dirty="0" lang="en" sz="1800"/>
          </a:p>
        </p:txBody>
      </p:sp>
      <p:sp>
        <p:nvSpPr>
          <p:cNvPr id="7" name="TextBox 50"/>
          <p:cNvSpPr/>
          <p:nvPr/>
        </p:nvSpPr>
        <p:spPr>
          <a:xfrm>
            <a:off x="1295400" y="2773561"/>
            <a:ext cx="4572000" cy="2857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Snap a Photo</a:t>
            </a:r>
            <a:endParaRPr dirty="0" lang="en" sz="1500"/>
          </a:p>
        </p:txBody>
      </p:sp>
      <p:sp>
        <p:nvSpPr>
          <p:cNvPr id="8" name="TextBox 52"/>
          <p:cNvSpPr/>
          <p:nvPr/>
        </p:nvSpPr>
        <p:spPr>
          <a:xfrm>
            <a:off x="1295400" y="3097411"/>
            <a:ext cx="4572000" cy="4953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50"/>
              </a:lnSpc>
              <a:buNone/>
            </a:pPr>
            <a:r>
              <a:rPr altLang="en-US" dirty="0" lang="en" sz="12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Capture the affected plant directly in the field using high-</a:t>
            </a:r>
            <a:endParaRPr dirty="0" lang="en" sz="1200"/>
          </a:p>
          <a:p>
            <a:pPr algn="l" indent="0" marL="0">
              <a:lnSpc>
                <a:spcPts val="1950"/>
              </a:lnSpc>
              <a:buNone/>
            </a:pPr>
            <a:r>
              <a:rPr altLang="en-US" dirty="0" lang="en" sz="12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resolution mobile imaging.</a:t>
            </a:r>
            <a:endParaRPr dirty="0" lang="en" sz="1200"/>
          </a:p>
        </p:txBody>
      </p:sp>
      <p:sp>
        <p:nvSpPr>
          <p:cNvPr id="9" name="TextBox 67"/>
          <p:cNvSpPr/>
          <p:nvPr/>
        </p:nvSpPr>
        <p:spPr>
          <a:xfrm>
            <a:off x="1295400" y="3821311"/>
            <a:ext cx="4572000" cy="2857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AI Identification</a:t>
            </a:r>
            <a:endParaRPr dirty="0" lang="en" sz="1500"/>
          </a:p>
        </p:txBody>
      </p:sp>
      <p:sp>
        <p:nvSpPr>
          <p:cNvPr id="10" name="TextBox 69"/>
          <p:cNvSpPr/>
          <p:nvPr/>
        </p:nvSpPr>
        <p:spPr>
          <a:xfrm>
            <a:off x="1295400" y="4145161"/>
            <a:ext cx="4572000" cy="4953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50"/>
              </a:lnSpc>
              <a:buNone/>
            </a:pPr>
            <a:r>
              <a:rPr altLang="en-US" dirty="0" lang="en" sz="12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Our ensemble models identify the disease with high precision</a:t>
            </a:r>
            <a:endParaRPr dirty="0" lang="en" sz="1200"/>
          </a:p>
          <a:p>
            <a:pPr algn="l" indent="0" marL="0">
              <a:lnSpc>
                <a:spcPts val="1950"/>
              </a:lnSpc>
              <a:buNone/>
            </a:pPr>
            <a:r>
              <a:rPr altLang="en-US" dirty="0" lang="en" sz="12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and micro-optic clarity.</a:t>
            </a:r>
            <a:endParaRPr dirty="0" lang="en" sz="1200"/>
          </a:p>
        </p:txBody>
      </p:sp>
      <p:sp>
        <p:nvSpPr>
          <p:cNvPr id="11" name="TextBox 84"/>
          <p:cNvSpPr/>
          <p:nvPr/>
        </p:nvSpPr>
        <p:spPr>
          <a:xfrm>
            <a:off x="1295400" y="4869061"/>
            <a:ext cx="4572000" cy="2857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Treatment Plan</a:t>
            </a:r>
            <a:endParaRPr dirty="0" lang="en" sz="1500"/>
          </a:p>
        </p:txBody>
      </p:sp>
      <p:sp>
        <p:nvSpPr>
          <p:cNvPr id="12" name="TextBox 86"/>
          <p:cNvSpPr/>
          <p:nvPr/>
        </p:nvSpPr>
        <p:spPr>
          <a:xfrm>
            <a:off x="1295400" y="5192911"/>
            <a:ext cx="4572000" cy="4953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50"/>
              </a:lnSpc>
              <a:buNone/>
            </a:pPr>
            <a:r>
              <a:rPr altLang="en-US" dirty="0" lang="en" sz="12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The system instantly generates a comprehensive, AI-driven</a:t>
            </a:r>
            <a:endParaRPr dirty="0" lang="en" sz="1200"/>
          </a:p>
          <a:p>
            <a:pPr algn="l" indent="0" marL="0">
              <a:lnSpc>
                <a:spcPts val="1950"/>
              </a:lnSpc>
              <a:buNone/>
            </a:pPr>
            <a:r>
              <a:rPr altLang="en-US" dirty="0" lang="en" sz="12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treatment plan for field action.</a:t>
            </a:r>
            <a:endParaRPr dirty="0" lang="en" sz="1200"/>
          </a:p>
        </p:txBody>
      </p:sp>
      <p:sp>
        <p:nvSpPr>
          <p:cNvPr id="13" name="TextBox 108"/>
          <p:cNvSpPr/>
          <p:nvPr/>
        </p:nvSpPr>
        <p:spPr>
          <a:xfrm>
            <a:off x="9958090" y="1804987"/>
            <a:ext cx="1309985" cy="1428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37" sz="750">
                <a:solidFill>
                  <a:srgbClr val="64748B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DIAGNOSTIC_INTERFACE_V4.0</a:t>
            </a:r>
            <a:endParaRPr dirty="0" lang="en" sz="750"/>
          </a:p>
        </p:txBody>
      </p:sp>
      <p:sp>
        <p:nvSpPr>
          <p:cNvPr id="14" name="TextBox 129"/>
          <p:cNvSpPr/>
          <p:nvPr/>
        </p:nvSpPr>
        <p:spPr>
          <a:xfrm>
            <a:off x="6515100" y="6324600"/>
            <a:ext cx="3212455" cy="1428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FIG 01. INTEGRATED FIELD DIAGNOSTIC FLOW INTERFACE</a:t>
            </a:r>
            <a:endParaRPr dirty="0" lang="en" sz="9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7"/>
          <p:cNvSpPr/>
          <p:nvPr/>
        </p:nvSpPr>
        <p:spPr>
          <a:xfrm>
            <a:off x="762000" y="347663"/>
            <a:ext cx="10668000" cy="166688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105" sz="105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IDENTIFYING THE PAIN POINTS</a:t>
            </a:r>
            <a:endParaRPr dirty="0" lang="en" sz="1050"/>
          </a:p>
        </p:txBody>
      </p:sp>
      <p:sp>
        <p:nvSpPr>
          <p:cNvPr id="4" name="TextBox 19"/>
          <p:cNvSpPr/>
          <p:nvPr/>
        </p:nvSpPr>
        <p:spPr>
          <a:xfrm>
            <a:off x="762000" y="557213"/>
            <a:ext cx="10668000" cy="4762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30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The Problem Statement</a:t>
            </a:r>
            <a:endParaRPr dirty="0" lang="en" sz="3000"/>
          </a:p>
        </p:txBody>
      </p:sp>
      <p:sp>
        <p:nvSpPr>
          <p:cNvPr id="5" name="TextBox 36"/>
          <p:cNvSpPr/>
          <p:nvPr/>
        </p:nvSpPr>
        <p:spPr>
          <a:xfrm>
            <a:off x="1295400" y="2019300"/>
            <a:ext cx="1346002" cy="1714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90" sz="90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DIAGNOSTIC INSIGHT</a:t>
            </a:r>
            <a:endParaRPr dirty="0" lang="en" sz="900"/>
          </a:p>
        </p:txBody>
      </p:sp>
      <p:sp>
        <p:nvSpPr>
          <p:cNvPr id="6" name="TextBox 39"/>
          <p:cNvSpPr/>
          <p:nvPr/>
        </p:nvSpPr>
        <p:spPr>
          <a:xfrm>
            <a:off x="1104900" y="2305050"/>
            <a:ext cx="10020300" cy="594122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2340"/>
              </a:lnSpc>
              <a:buNone/>
            </a:pPr>
            <a:r>
              <a:rPr altLang="en-US" b="1" dirty="0" lang="en" sz="18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Farmers lose crops because expert help is slow and existing AI is 'book smart' but not 'street</a:t>
            </a:r>
            <a:endParaRPr dirty="0" lang="en" sz="1800"/>
          </a:p>
          <a:p>
            <a:pPr algn="l" indent="0" marL="0">
              <a:lnSpc>
                <a:spcPts val="2340"/>
              </a:lnSpc>
              <a:buNone/>
            </a:pPr>
            <a:r>
              <a:rPr altLang="en-US" b="1" dirty="0" lang="en" sz="18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smart.'</a:t>
            </a:r>
            <a:endParaRPr dirty="0" lang="en" sz="1800"/>
          </a:p>
        </p:txBody>
      </p:sp>
      <p:sp>
        <p:nvSpPr>
          <p:cNvPr id="7" name="TextBox 55"/>
          <p:cNvSpPr/>
          <p:nvPr/>
        </p:nvSpPr>
        <p:spPr>
          <a:xfrm>
            <a:off x="3134916" y="3904059"/>
            <a:ext cx="665559" cy="219075"/>
          </a:xfrm>
          <a:prstGeom prst="roundRect">
            <a:avLst>
              <a:gd fmla="val 17391" name="adj"/>
            </a:avLst>
          </a:prstGeom>
          <a:noFill/>
          <a:ln/>
        </p:spPr>
        <p:txBody>
          <a:bodyPr anchor="t" bIns="38100" lIns="76200" rIns="762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75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BARRIER 01</a:t>
            </a:r>
            <a:endParaRPr dirty="0" lang="en" sz="750"/>
          </a:p>
        </p:txBody>
      </p:sp>
      <p:sp>
        <p:nvSpPr>
          <p:cNvPr id="8" name="TextBox 58"/>
          <p:cNvSpPr/>
          <p:nvPr/>
        </p:nvSpPr>
        <p:spPr>
          <a:xfrm>
            <a:off x="1076325" y="4356497"/>
            <a:ext cx="2724150" cy="2667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Expert Scarcity</a:t>
            </a:r>
            <a:endParaRPr dirty="0" lang="en" sz="1500"/>
          </a:p>
        </p:txBody>
      </p:sp>
      <p:sp>
        <p:nvSpPr>
          <p:cNvPr id="9" name="TextBox 60"/>
          <p:cNvSpPr/>
          <p:nvPr/>
        </p:nvSpPr>
        <p:spPr>
          <a:xfrm>
            <a:off x="1076325" y="4775597"/>
            <a:ext cx="2724150" cy="731341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Professional help is often too slow and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expensive for small-scale farmers,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creating a critical delay in treatment.</a:t>
            </a:r>
            <a:endParaRPr dirty="0" lang="en" sz="1200"/>
          </a:p>
        </p:txBody>
      </p:sp>
      <p:sp>
        <p:nvSpPr>
          <p:cNvPr id="10" name="TextBox 71"/>
          <p:cNvSpPr/>
          <p:nvPr/>
        </p:nvSpPr>
        <p:spPr>
          <a:xfrm>
            <a:off x="6792516" y="3904059"/>
            <a:ext cx="665559" cy="219075"/>
          </a:xfrm>
          <a:prstGeom prst="roundRect">
            <a:avLst>
              <a:gd fmla="val 17391" name="adj"/>
            </a:avLst>
          </a:prstGeom>
          <a:noFill/>
          <a:ln/>
        </p:spPr>
        <p:txBody>
          <a:bodyPr anchor="t" bIns="38100" lIns="76200" rIns="762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75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BARRIER 02</a:t>
            </a:r>
            <a:endParaRPr dirty="0" lang="en" sz="750"/>
          </a:p>
        </p:txBody>
      </p:sp>
      <p:sp>
        <p:nvSpPr>
          <p:cNvPr id="11" name="TextBox 74"/>
          <p:cNvSpPr/>
          <p:nvPr/>
        </p:nvSpPr>
        <p:spPr>
          <a:xfrm>
            <a:off x="4733925" y="4356497"/>
            <a:ext cx="2724150" cy="2667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The Lab-to-Field Gap</a:t>
            </a:r>
            <a:endParaRPr dirty="0" lang="en" sz="1500"/>
          </a:p>
        </p:txBody>
      </p:sp>
      <p:sp>
        <p:nvSpPr>
          <p:cNvPr id="12" name="TextBox 76"/>
          <p:cNvSpPr/>
          <p:nvPr/>
        </p:nvSpPr>
        <p:spPr>
          <a:xfrm>
            <a:off x="4733925" y="4775597"/>
            <a:ext cx="2724150" cy="975122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Existing apps are trained on perfect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lab photos and fail in messy, real-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world field conditions with varied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lighting and noise.</a:t>
            </a:r>
            <a:endParaRPr dirty="0" lang="en" sz="1200"/>
          </a:p>
        </p:txBody>
      </p:sp>
      <p:sp>
        <p:nvSpPr>
          <p:cNvPr id="13" name="TextBox 87"/>
          <p:cNvSpPr/>
          <p:nvPr/>
        </p:nvSpPr>
        <p:spPr>
          <a:xfrm>
            <a:off x="10450116" y="3904059"/>
            <a:ext cx="665559" cy="219075"/>
          </a:xfrm>
          <a:prstGeom prst="roundRect">
            <a:avLst>
              <a:gd fmla="val 17391" name="adj"/>
            </a:avLst>
          </a:prstGeom>
          <a:noFill/>
          <a:ln/>
        </p:spPr>
        <p:txBody>
          <a:bodyPr anchor="t" bIns="38100" lIns="76200" rIns="762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75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BARRIER 03</a:t>
            </a:r>
            <a:endParaRPr dirty="0" lang="en" sz="750"/>
          </a:p>
        </p:txBody>
      </p:sp>
      <p:sp>
        <p:nvSpPr>
          <p:cNvPr id="14" name="TextBox 90"/>
          <p:cNvSpPr/>
          <p:nvPr/>
        </p:nvSpPr>
        <p:spPr>
          <a:xfrm>
            <a:off x="8391525" y="4356497"/>
            <a:ext cx="2724150" cy="2667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Labels vs. Cures</a:t>
            </a:r>
            <a:endParaRPr dirty="0" lang="en" sz="1500"/>
          </a:p>
        </p:txBody>
      </p:sp>
      <p:sp>
        <p:nvSpPr>
          <p:cNvPr id="15" name="TextBox 92"/>
          <p:cNvSpPr/>
          <p:nvPr/>
        </p:nvSpPr>
        <p:spPr>
          <a:xfrm>
            <a:off x="8391525" y="4775597"/>
            <a:ext cx="2724150" cy="975122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Most current tools only provide a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disease name, leaving the farmer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without an actionable, local-market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cure.</a:t>
            </a:r>
            <a:endParaRPr dirty="0" lang="en" sz="12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5"/>
          <p:cNvSpPr/>
          <p:nvPr/>
        </p:nvSpPr>
        <p:spPr>
          <a:xfrm>
            <a:off x="762000" y="333375"/>
            <a:ext cx="10668000" cy="20002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105" sz="105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TECHNICAL INNOVATIONS</a:t>
            </a:r>
            <a:endParaRPr dirty="0" lang="en" sz="1050"/>
          </a:p>
        </p:txBody>
      </p:sp>
      <p:sp>
        <p:nvSpPr>
          <p:cNvPr id="4" name="TextBox 17"/>
          <p:cNvSpPr/>
          <p:nvPr/>
        </p:nvSpPr>
        <p:spPr>
          <a:xfrm>
            <a:off x="762000" y="609600"/>
            <a:ext cx="10668000" cy="4762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30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The Solution</a:t>
            </a:r>
            <a:endParaRPr dirty="0" lang="en" sz="3000"/>
          </a:p>
        </p:txBody>
      </p:sp>
      <p:sp>
        <p:nvSpPr>
          <p:cNvPr id="5" name="TextBox 30"/>
          <p:cNvSpPr/>
          <p:nvPr/>
        </p:nvSpPr>
        <p:spPr>
          <a:xfrm>
            <a:off x="762000" y="1714500"/>
            <a:ext cx="5615880" cy="47625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875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Bridging the gap with field-ready AI and personalized LLM</a:t>
            </a:r>
            <a:endParaRPr dirty="0" lang="en" sz="1500"/>
          </a:p>
          <a:p>
            <a:pPr algn="l" indent="0" marL="0">
              <a:lnSpc>
                <a:spcPts val="1875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guidance.</a:t>
            </a:r>
            <a:endParaRPr dirty="0" lang="en" sz="1500"/>
          </a:p>
        </p:txBody>
      </p:sp>
      <p:sp>
        <p:nvSpPr>
          <p:cNvPr id="6" name="TextBox 49"/>
          <p:cNvSpPr/>
          <p:nvPr/>
        </p:nvSpPr>
        <p:spPr>
          <a:xfrm>
            <a:off x="1419225" y="2847975"/>
            <a:ext cx="1255216" cy="2286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60" sz="12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STREET SMARTS</a:t>
            </a:r>
            <a:endParaRPr dirty="0" lang="en" sz="1200"/>
          </a:p>
        </p:txBody>
      </p:sp>
      <p:sp>
        <p:nvSpPr>
          <p:cNvPr id="7" name="TextBox 52"/>
          <p:cNvSpPr/>
          <p:nvPr/>
        </p:nvSpPr>
        <p:spPr>
          <a:xfrm>
            <a:off x="1000125" y="3228975"/>
            <a:ext cx="5139630" cy="40005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575"/>
              </a:lnSpc>
              <a:buNone/>
            </a:pPr>
            <a:r>
              <a:rPr altLang="en-US" dirty="0" lang="en" sz="105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Hybrid dataset merging controlled laboratory accuracy with unpredictable field</a:t>
            </a:r>
            <a:endParaRPr dirty="0" lang="en" sz="1050"/>
          </a:p>
          <a:p>
            <a:pPr algn="l" indent="0" marL="0">
              <a:lnSpc>
                <a:spcPts val="1575"/>
              </a:lnSpc>
              <a:buNone/>
            </a:pPr>
            <a:r>
              <a:rPr altLang="en-US" dirty="0" lang="en" sz="105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variables.</a:t>
            </a:r>
            <a:endParaRPr dirty="0" lang="en" sz="1050"/>
          </a:p>
        </p:txBody>
      </p:sp>
      <p:sp>
        <p:nvSpPr>
          <p:cNvPr id="8" name="TextBox 58"/>
          <p:cNvSpPr/>
          <p:nvPr/>
        </p:nvSpPr>
        <p:spPr>
          <a:xfrm>
            <a:off x="1152525" y="3895725"/>
            <a:ext cx="2226915" cy="3429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8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54,000</a:t>
            </a:r>
            <a:endParaRPr dirty="0" lang="en" sz="1800"/>
          </a:p>
        </p:txBody>
      </p:sp>
      <p:sp>
        <p:nvSpPr>
          <p:cNvPr id="9" name="TextBox 60"/>
          <p:cNvSpPr/>
          <p:nvPr/>
        </p:nvSpPr>
        <p:spPr>
          <a:xfrm>
            <a:off x="1152525" y="4238625"/>
            <a:ext cx="2226915" cy="1428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75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LAB SAMPLES</a:t>
            </a:r>
            <a:endParaRPr dirty="0" lang="en" sz="750"/>
          </a:p>
        </p:txBody>
      </p:sp>
      <p:sp>
        <p:nvSpPr>
          <p:cNvPr id="10" name="TextBox 65"/>
          <p:cNvSpPr/>
          <p:nvPr/>
        </p:nvSpPr>
        <p:spPr>
          <a:xfrm>
            <a:off x="3798540" y="3895725"/>
            <a:ext cx="2226915" cy="3429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8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2,600</a:t>
            </a:r>
            <a:endParaRPr dirty="0" lang="en" sz="1800"/>
          </a:p>
        </p:txBody>
      </p:sp>
      <p:sp>
        <p:nvSpPr>
          <p:cNvPr id="11" name="TextBox 67"/>
          <p:cNvSpPr/>
          <p:nvPr/>
        </p:nvSpPr>
        <p:spPr>
          <a:xfrm>
            <a:off x="3798540" y="4238625"/>
            <a:ext cx="2226915" cy="1428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75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FIELD IMAGES</a:t>
            </a:r>
            <a:endParaRPr dirty="0" lang="en" sz="750"/>
          </a:p>
        </p:txBody>
      </p:sp>
      <p:sp>
        <p:nvSpPr>
          <p:cNvPr id="12" name="TextBox 83"/>
          <p:cNvSpPr/>
          <p:nvPr/>
        </p:nvSpPr>
        <p:spPr>
          <a:xfrm>
            <a:off x="1419225" y="4914900"/>
            <a:ext cx="1502420" cy="2286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60" sz="12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DOUBLE CHECKING</a:t>
            </a:r>
            <a:endParaRPr dirty="0" lang="en" sz="1200"/>
          </a:p>
        </p:txBody>
      </p:sp>
      <p:sp>
        <p:nvSpPr>
          <p:cNvPr id="13" name="TextBox 86"/>
          <p:cNvSpPr/>
          <p:nvPr/>
        </p:nvSpPr>
        <p:spPr>
          <a:xfrm>
            <a:off x="1000125" y="5295900"/>
            <a:ext cx="5139630" cy="20002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Ensemble logic where multiple specialized architectures cross-verify findings.</a:t>
            </a:r>
            <a:endParaRPr dirty="0" lang="en" sz="1050"/>
          </a:p>
        </p:txBody>
      </p:sp>
      <p:sp>
        <p:nvSpPr>
          <p:cNvPr id="14" name="TextBox 90"/>
          <p:cNvSpPr/>
          <p:nvPr/>
        </p:nvSpPr>
        <p:spPr>
          <a:xfrm>
            <a:off x="1000125" y="5648325"/>
            <a:ext cx="1555105" cy="357188"/>
          </a:xfrm>
          <a:prstGeom prst="roundRect">
            <a:avLst>
              <a:gd fmla="val 10667" name="adj"/>
            </a:avLst>
          </a:prstGeom>
          <a:noFill/>
          <a:ln/>
        </p:spPr>
        <p:txBody>
          <a:bodyPr anchor="t" bIns="76200" lIns="114300" rIns="114300" rtlCol="0" tIns="7620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lang="en" sz="975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ResNet50</a:t>
            </a:r>
            <a:endParaRPr dirty="0" lang="en" sz="975"/>
          </a:p>
        </p:txBody>
      </p:sp>
      <p:sp>
        <p:nvSpPr>
          <p:cNvPr id="15" name="TextBox 94"/>
          <p:cNvSpPr/>
          <p:nvPr/>
        </p:nvSpPr>
        <p:spPr>
          <a:xfrm>
            <a:off x="2968377" y="5648325"/>
            <a:ext cx="1555254" cy="357188"/>
          </a:xfrm>
          <a:prstGeom prst="roundRect">
            <a:avLst>
              <a:gd fmla="val 10667" name="adj"/>
            </a:avLst>
          </a:prstGeom>
          <a:noFill/>
          <a:ln/>
        </p:spPr>
        <p:txBody>
          <a:bodyPr anchor="t" bIns="76200" lIns="114300" rIns="114300" rtlCol="0" tIns="7620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lang="en" sz="975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DenseNet121</a:t>
            </a:r>
            <a:endParaRPr dirty="0" lang="en" sz="975"/>
          </a:p>
        </p:txBody>
      </p:sp>
      <p:sp>
        <p:nvSpPr>
          <p:cNvPr id="16" name="TextBox 98"/>
          <p:cNvSpPr/>
          <p:nvPr/>
        </p:nvSpPr>
        <p:spPr>
          <a:xfrm>
            <a:off x="4936778" y="5657850"/>
            <a:ext cx="1202978" cy="338137"/>
          </a:xfrm>
          <a:prstGeom prst="roundRect">
            <a:avLst>
              <a:gd fmla="val 11268" name="adj"/>
            </a:avLst>
          </a:prstGeom>
          <a:noFill/>
          <a:ln/>
        </p:spPr>
        <p:txBody>
          <a:bodyPr anchor="t" bIns="76200" lIns="152400" rIns="152400" rtlCol="0" tIns="762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975">
                <a:solidFill>
                  <a:srgbClr val="FFFFFF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99.2% Accuracy</a:t>
            </a:r>
            <a:endParaRPr dirty="0" lang="en" sz="975"/>
          </a:p>
        </p:txBody>
      </p:sp>
      <p:sp>
        <p:nvSpPr>
          <p:cNvPr id="17" name="TextBox 117"/>
          <p:cNvSpPr/>
          <p:nvPr/>
        </p:nvSpPr>
        <p:spPr>
          <a:xfrm>
            <a:off x="7063680" y="1943100"/>
            <a:ext cx="1763018" cy="20002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105" sz="1050">
                <a:solidFill>
                  <a:srgbClr val="FFFFFF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DIAGNOSTIC INTERFACE</a:t>
            </a:r>
            <a:endParaRPr dirty="0" lang="en" sz="1050"/>
          </a:p>
        </p:txBody>
      </p:sp>
      <p:sp>
        <p:nvSpPr>
          <p:cNvPr id="18" name="TextBox 123"/>
          <p:cNvSpPr/>
          <p:nvPr/>
        </p:nvSpPr>
        <p:spPr>
          <a:xfrm>
            <a:off x="10458301" y="1971675"/>
            <a:ext cx="743099" cy="1428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750">
                <a:solidFill>
                  <a:srgbClr val="FFFFFF">
                    <a:alpha val="60000"/>
                  </a:srgbClr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LIVE_LLM_FEED</a:t>
            </a:r>
            <a:endParaRPr dirty="0" lang="en" sz="750"/>
          </a:p>
        </p:txBody>
      </p:sp>
      <p:sp>
        <p:nvSpPr>
          <p:cNvPr id="19" name="TextBox 133"/>
          <p:cNvSpPr/>
          <p:nvPr/>
        </p:nvSpPr>
        <p:spPr>
          <a:xfrm>
            <a:off x="7225605" y="2457450"/>
            <a:ext cx="3813870" cy="1714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F59E0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Google Gemini Integrated</a:t>
            </a:r>
            <a:endParaRPr dirty="0" lang="en" sz="900"/>
          </a:p>
        </p:txBody>
      </p:sp>
      <p:sp>
        <p:nvSpPr>
          <p:cNvPr id="20" name="TextBox 135"/>
          <p:cNvSpPr/>
          <p:nvPr/>
        </p:nvSpPr>
        <p:spPr>
          <a:xfrm>
            <a:off x="7225605" y="2705100"/>
            <a:ext cx="3813870" cy="650081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706"/>
              </a:lnSpc>
              <a:buNone/>
            </a:pPr>
            <a:r>
              <a:rPr altLang="en-US" dirty="0" i="1" lang="en" sz="1050">
                <a:solidFill>
                  <a:srgbClr val="FFFFFF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"Your plant shows early signs of fungal blight. Recommended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i="1" lang="en" sz="1050">
                <a:solidFill>
                  <a:srgbClr val="FFFFFF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action: Prune infected leaves and apply 2% copper-based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i="1" lang="en" sz="1050">
                <a:solidFill>
                  <a:srgbClr val="FFFFFF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fungicide at dusk."</a:t>
            </a:r>
            <a:endParaRPr dirty="0" lang="en" sz="1050"/>
          </a:p>
        </p:txBody>
      </p:sp>
      <p:sp>
        <p:nvSpPr>
          <p:cNvPr id="21" name="TextBox 142"/>
          <p:cNvSpPr/>
          <p:nvPr/>
        </p:nvSpPr>
        <p:spPr>
          <a:xfrm>
            <a:off x="7330380" y="4599980"/>
            <a:ext cx="3642420" cy="2857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The Human Touch</a:t>
            </a:r>
            <a:endParaRPr dirty="0" lang="en" sz="1500"/>
          </a:p>
        </p:txBody>
      </p:sp>
      <p:sp>
        <p:nvSpPr>
          <p:cNvPr id="22" name="TextBox 144"/>
          <p:cNvSpPr/>
          <p:nvPr/>
        </p:nvSpPr>
        <p:spPr>
          <a:xfrm>
            <a:off x="7330380" y="4961930"/>
            <a:ext cx="3642420" cy="51970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365"/>
              </a:lnSpc>
              <a:buNone/>
            </a:pPr>
            <a:r>
              <a:rPr altLang="en-US" dirty="0" lang="en" sz="105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Personalized guidance translates complex technical data</a:t>
            </a:r>
            <a:endParaRPr dirty="0" lang="en" sz="1050"/>
          </a:p>
          <a:p>
            <a:pPr algn="l" indent="0" marL="0">
              <a:lnSpc>
                <a:spcPts val="1365"/>
              </a:lnSpc>
              <a:buNone/>
            </a:pPr>
            <a:r>
              <a:rPr altLang="en-US" dirty="0" lang="en" sz="105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into actionable symptoms, treatments, and prevention</a:t>
            </a:r>
            <a:endParaRPr dirty="0" lang="en" sz="1050"/>
          </a:p>
          <a:p>
            <a:pPr algn="l" indent="0" marL="0">
              <a:lnSpc>
                <a:spcPts val="1365"/>
              </a:lnSpc>
              <a:buNone/>
            </a:pPr>
            <a:r>
              <a:rPr altLang="en-US" dirty="0" lang="en" sz="105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plans for any farmer.</a:t>
            </a:r>
            <a:endParaRPr dirty="0" lang="en" sz="1050"/>
          </a:p>
        </p:txBody>
      </p:sp>
      <p:sp>
        <p:nvSpPr>
          <p:cNvPr id="23" name="TextBox 162"/>
          <p:cNvSpPr/>
          <p:nvPr/>
        </p:nvSpPr>
        <p:spPr>
          <a:xfrm>
            <a:off x="7189440" y="6243638"/>
            <a:ext cx="1553319" cy="157163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41" sz="825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ENSEMBLE VOTING SYSTEM ACTIVE</a:t>
            </a:r>
            <a:endParaRPr dirty="0" lang="en" sz="825"/>
          </a:p>
        </p:txBody>
      </p:sp>
      <p:sp>
        <p:nvSpPr>
          <p:cNvPr id="24" name="TextBox 167"/>
          <p:cNvSpPr/>
          <p:nvPr/>
        </p:nvSpPr>
        <p:spPr>
          <a:xfrm>
            <a:off x="10360968" y="6243638"/>
            <a:ext cx="740866" cy="157163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41" sz="825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GEMINI PRO V1.5</a:t>
            </a:r>
            <a:endParaRPr dirty="0" lang="en" sz="825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7"/>
          <p:cNvSpPr/>
          <p:nvPr/>
        </p:nvSpPr>
        <p:spPr>
          <a:xfrm>
            <a:off x="762000" y="314325"/>
            <a:ext cx="10668000" cy="20002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210" sz="105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CORE ARCHITECTURE</a:t>
            </a:r>
            <a:endParaRPr dirty="0" lang="en" sz="1050"/>
          </a:p>
        </p:txBody>
      </p:sp>
      <p:sp>
        <p:nvSpPr>
          <p:cNvPr id="4" name="TextBox 19"/>
          <p:cNvSpPr/>
          <p:nvPr/>
        </p:nvSpPr>
        <p:spPr>
          <a:xfrm>
            <a:off x="762000" y="590550"/>
            <a:ext cx="10668000" cy="4762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30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Tech Stack</a:t>
            </a:r>
            <a:endParaRPr dirty="0" lang="en" sz="3000"/>
          </a:p>
        </p:txBody>
      </p:sp>
      <p:sp>
        <p:nvSpPr>
          <p:cNvPr id="5" name="TextBox 28"/>
          <p:cNvSpPr/>
          <p:nvPr/>
        </p:nvSpPr>
        <p:spPr>
          <a:xfrm>
            <a:off x="762000" y="1790700"/>
            <a:ext cx="6400800" cy="5715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2250"/>
              </a:lnSpc>
              <a:buNone/>
            </a:pPr>
            <a:r>
              <a:rPr altLang="en-US" dirty="0" lang="en" sz="1500">
                <a:solidFill>
                  <a:srgbClr val="1E3A34">
                    <a:alpha val="80000"/>
                  </a:srgbClr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A robust, modern architecture designed for speed and intelligence,</a:t>
            </a:r>
            <a:endParaRPr dirty="0" lang="en" sz="1500"/>
          </a:p>
          <a:p>
            <a:pPr algn="l" indent="0" marL="0">
              <a:lnSpc>
                <a:spcPts val="2250"/>
              </a:lnSpc>
              <a:buNone/>
            </a:pPr>
            <a:r>
              <a:rPr altLang="en-US" dirty="0" lang="en" sz="1500">
                <a:solidFill>
                  <a:srgbClr val="1E3A34">
                    <a:alpha val="80000"/>
                  </a:srgbClr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leveraging industry-standard frameworks for end-to-end efficiency.</a:t>
            </a:r>
            <a:endParaRPr dirty="0" lang="en" sz="1500"/>
          </a:p>
        </p:txBody>
      </p:sp>
      <p:sp>
        <p:nvSpPr>
          <p:cNvPr id="6" name="TextBox 44"/>
          <p:cNvSpPr/>
          <p:nvPr/>
        </p:nvSpPr>
        <p:spPr>
          <a:xfrm>
            <a:off x="1571625" y="3105150"/>
            <a:ext cx="798761" cy="2857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Vision AI</a:t>
            </a:r>
            <a:endParaRPr dirty="0" lang="en" sz="1500"/>
          </a:p>
        </p:txBody>
      </p:sp>
      <p:sp>
        <p:nvSpPr>
          <p:cNvPr id="7" name="TextBox 52"/>
          <p:cNvSpPr/>
          <p:nvPr/>
        </p:nvSpPr>
        <p:spPr>
          <a:xfrm>
            <a:off x="1290638" y="3686175"/>
            <a:ext cx="813197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TensorFlow</a:t>
            </a:r>
            <a:endParaRPr dirty="0" lang="en" sz="1200"/>
          </a:p>
        </p:txBody>
      </p:sp>
      <p:sp>
        <p:nvSpPr>
          <p:cNvPr id="8" name="TextBox 57"/>
          <p:cNvSpPr/>
          <p:nvPr/>
        </p:nvSpPr>
        <p:spPr>
          <a:xfrm>
            <a:off x="1290638" y="4029075"/>
            <a:ext cx="710357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ResNet50</a:t>
            </a:r>
            <a:endParaRPr dirty="0" lang="en" sz="1200"/>
          </a:p>
        </p:txBody>
      </p:sp>
      <p:sp>
        <p:nvSpPr>
          <p:cNvPr id="9" name="TextBox 62"/>
          <p:cNvSpPr/>
          <p:nvPr/>
        </p:nvSpPr>
        <p:spPr>
          <a:xfrm>
            <a:off x="1290638" y="4371975"/>
            <a:ext cx="912465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DenseNet121</a:t>
            </a:r>
            <a:endParaRPr dirty="0" lang="en" sz="1200"/>
          </a:p>
        </p:txBody>
      </p:sp>
      <p:sp>
        <p:nvSpPr>
          <p:cNvPr id="10" name="TextBox 77"/>
          <p:cNvSpPr/>
          <p:nvPr/>
        </p:nvSpPr>
        <p:spPr>
          <a:xfrm>
            <a:off x="4295775" y="3105150"/>
            <a:ext cx="1134963" cy="2857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Language AI</a:t>
            </a:r>
            <a:endParaRPr dirty="0" lang="en" sz="1500"/>
          </a:p>
        </p:txBody>
      </p:sp>
      <p:sp>
        <p:nvSpPr>
          <p:cNvPr id="11" name="TextBox 85"/>
          <p:cNvSpPr/>
          <p:nvPr/>
        </p:nvSpPr>
        <p:spPr>
          <a:xfrm>
            <a:off x="4014788" y="3686175"/>
            <a:ext cx="1322784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Google Gemini API</a:t>
            </a:r>
            <a:endParaRPr dirty="0" lang="en" sz="1200"/>
          </a:p>
        </p:txBody>
      </p:sp>
      <p:sp>
        <p:nvSpPr>
          <p:cNvPr id="12" name="TextBox 100"/>
          <p:cNvSpPr/>
          <p:nvPr/>
        </p:nvSpPr>
        <p:spPr>
          <a:xfrm>
            <a:off x="7019925" y="3105150"/>
            <a:ext cx="785961" cy="2857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Backend</a:t>
            </a:r>
            <a:endParaRPr dirty="0" lang="en" sz="1500"/>
          </a:p>
        </p:txBody>
      </p:sp>
      <p:sp>
        <p:nvSpPr>
          <p:cNvPr id="13" name="TextBox 108"/>
          <p:cNvSpPr/>
          <p:nvPr/>
        </p:nvSpPr>
        <p:spPr>
          <a:xfrm>
            <a:off x="6738938" y="3686175"/>
            <a:ext cx="503188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Python</a:t>
            </a:r>
            <a:endParaRPr dirty="0" lang="en" sz="1200"/>
          </a:p>
        </p:txBody>
      </p:sp>
      <p:sp>
        <p:nvSpPr>
          <p:cNvPr id="14" name="TextBox 113"/>
          <p:cNvSpPr/>
          <p:nvPr/>
        </p:nvSpPr>
        <p:spPr>
          <a:xfrm>
            <a:off x="6738938" y="4029075"/>
            <a:ext cx="555575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FastAPI</a:t>
            </a:r>
            <a:endParaRPr dirty="0" lang="en" sz="1200"/>
          </a:p>
        </p:txBody>
      </p:sp>
      <p:sp>
        <p:nvSpPr>
          <p:cNvPr id="15" name="TextBox 118"/>
          <p:cNvSpPr/>
          <p:nvPr/>
        </p:nvSpPr>
        <p:spPr>
          <a:xfrm>
            <a:off x="6738938" y="4371975"/>
            <a:ext cx="537418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Uvicorn</a:t>
            </a:r>
            <a:endParaRPr dirty="0" lang="en" sz="1200"/>
          </a:p>
        </p:txBody>
      </p:sp>
      <p:sp>
        <p:nvSpPr>
          <p:cNvPr id="16" name="TextBox 133"/>
          <p:cNvSpPr/>
          <p:nvPr/>
        </p:nvSpPr>
        <p:spPr>
          <a:xfrm>
            <a:off x="9744075" y="3105150"/>
            <a:ext cx="829121" cy="2857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Frontend</a:t>
            </a:r>
            <a:endParaRPr dirty="0" lang="en" sz="1500"/>
          </a:p>
        </p:txBody>
      </p:sp>
      <p:sp>
        <p:nvSpPr>
          <p:cNvPr id="17" name="TextBox 141"/>
          <p:cNvSpPr/>
          <p:nvPr/>
        </p:nvSpPr>
        <p:spPr>
          <a:xfrm>
            <a:off x="9463087" y="3686175"/>
            <a:ext cx="408831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React</a:t>
            </a:r>
            <a:endParaRPr dirty="0" lang="en" sz="1200"/>
          </a:p>
        </p:txBody>
      </p:sp>
      <p:sp>
        <p:nvSpPr>
          <p:cNvPr id="18" name="TextBox 146"/>
          <p:cNvSpPr/>
          <p:nvPr/>
        </p:nvSpPr>
        <p:spPr>
          <a:xfrm>
            <a:off x="9463087" y="4029075"/>
            <a:ext cx="283815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Vite</a:t>
            </a:r>
            <a:endParaRPr dirty="0" lang="en" sz="1200"/>
          </a:p>
        </p:txBody>
      </p:sp>
      <p:sp>
        <p:nvSpPr>
          <p:cNvPr id="19" name="TextBox 151"/>
          <p:cNvSpPr/>
          <p:nvPr/>
        </p:nvSpPr>
        <p:spPr>
          <a:xfrm>
            <a:off x="9463087" y="4371975"/>
            <a:ext cx="333226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PWA</a:t>
            </a:r>
            <a:endParaRPr dirty="0" lang="en" sz="1200"/>
          </a:p>
        </p:txBody>
      </p:sp>
      <p:sp>
        <p:nvSpPr>
          <p:cNvPr id="20" name="TextBox 156"/>
          <p:cNvSpPr/>
          <p:nvPr/>
        </p:nvSpPr>
        <p:spPr>
          <a:xfrm>
            <a:off x="9463087" y="4714875"/>
            <a:ext cx="891332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Custom CSS</a:t>
            </a:r>
            <a:endParaRPr dirty="0" lang="en" sz="1200"/>
          </a:p>
        </p:txBody>
      </p:sp>
      <p:sp>
        <p:nvSpPr>
          <p:cNvPr id="21" name="TextBox 168"/>
          <p:cNvSpPr/>
          <p:nvPr/>
        </p:nvSpPr>
        <p:spPr>
          <a:xfrm>
            <a:off x="1028700" y="6210300"/>
            <a:ext cx="1377107" cy="1428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FFFFFF"/>
                </a:solidFill>
                <a:highlight>
                  <a:srgbClr val="1E3A34"/>
                </a:highlight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SYSTEMS OPERATIONAL</a:t>
            </a:r>
            <a:endParaRPr dirty="0" lang="en" sz="900"/>
          </a:p>
        </p:txBody>
      </p:sp>
      <p:sp>
        <p:nvSpPr>
          <p:cNvPr id="22" name="TextBox 172"/>
          <p:cNvSpPr/>
          <p:nvPr/>
        </p:nvSpPr>
        <p:spPr>
          <a:xfrm>
            <a:off x="9519196" y="6191250"/>
            <a:ext cx="1910804" cy="1714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90" sz="9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DIAGNOSTIC INTERFACE V1.0</a:t>
            </a:r>
            <a:endParaRPr dirty="0" lang="en" sz="900"/>
          </a:p>
        </p:txBody>
      </p:sp>
      <p:sp>
        <p:nvSpPr>
          <p:cNvPr id="23" name="TextBox 181"/>
          <p:cNvSpPr/>
          <p:nvPr/>
        </p:nvSpPr>
        <p:spPr>
          <a:xfrm>
            <a:off x="304800" y="5029200"/>
            <a:ext cx="2549277" cy="15240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6000"/>
              </a:lnSpc>
              <a:buNone/>
            </a:pPr>
            <a:r>
              <a:rPr altLang="en-US" b="1" dirty="0" lang="en" sz="6000">
                <a:solidFill>
                  <a:srgbClr val="1E3A34">
                    <a:alpha val="5000"/>
                  </a:srgbClr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TECH</a:t>
            </a:r>
            <a:endParaRPr dirty="0" lang="en" sz="6000"/>
          </a:p>
          <a:p>
            <a:pPr algn="l" indent="0" marL="0">
              <a:lnSpc>
                <a:spcPts val="6000"/>
              </a:lnSpc>
              <a:buNone/>
            </a:pPr>
            <a:r>
              <a:rPr altLang="en-US" b="1" dirty="0" lang="en" sz="6000">
                <a:solidFill>
                  <a:srgbClr val="1E3A34">
                    <a:alpha val="5000"/>
                  </a:srgbClr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STACK</a:t>
            </a:r>
            <a:endParaRPr dirty="0" lang="en" sz="60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5"/>
          <p:cNvSpPr/>
          <p:nvPr/>
        </p:nvSpPr>
        <p:spPr>
          <a:xfrm>
            <a:off x="762000" y="347663"/>
            <a:ext cx="10668000" cy="166688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52" sz="105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THE PRIMARY ROADBLOCKS FACED DURING DEVELOPMENT.</a:t>
            </a:r>
            <a:endParaRPr dirty="0" lang="en" sz="1050"/>
          </a:p>
        </p:txBody>
      </p:sp>
      <p:sp>
        <p:nvSpPr>
          <p:cNvPr id="4" name="TextBox 17"/>
          <p:cNvSpPr/>
          <p:nvPr/>
        </p:nvSpPr>
        <p:spPr>
          <a:xfrm>
            <a:off x="762000" y="557213"/>
            <a:ext cx="10668000" cy="4762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30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Technical Challenges</a:t>
            </a:r>
            <a:endParaRPr dirty="0" lang="en" sz="3000"/>
          </a:p>
        </p:txBody>
      </p:sp>
      <p:sp>
        <p:nvSpPr>
          <p:cNvPr id="5" name="TextBox 32"/>
          <p:cNvSpPr/>
          <p:nvPr/>
        </p:nvSpPr>
        <p:spPr>
          <a:xfrm>
            <a:off x="1028700" y="1714500"/>
            <a:ext cx="6190357" cy="1714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90" sz="9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CORE OBJECTIVE</a:t>
            </a:r>
            <a:endParaRPr dirty="0" lang="en" sz="900"/>
          </a:p>
        </p:txBody>
      </p:sp>
      <p:sp>
        <p:nvSpPr>
          <p:cNvPr id="6" name="TextBox 34"/>
          <p:cNvSpPr/>
          <p:nvPr/>
        </p:nvSpPr>
        <p:spPr>
          <a:xfrm>
            <a:off x="1028700" y="1924050"/>
            <a:ext cx="6190357" cy="297061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8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Overcoming data silos, latency, and cross-device friction.</a:t>
            </a:r>
            <a:endParaRPr dirty="0" lang="en" sz="1800"/>
          </a:p>
        </p:txBody>
      </p:sp>
      <p:sp>
        <p:nvSpPr>
          <p:cNvPr id="7" name="TextBox 52"/>
          <p:cNvSpPr/>
          <p:nvPr/>
        </p:nvSpPr>
        <p:spPr>
          <a:xfrm>
            <a:off x="1076325" y="2963614"/>
            <a:ext cx="275034" cy="247650"/>
          </a:xfrm>
          <a:prstGeom prst="roundRect">
            <a:avLst>
              <a:gd fmla="val 15385" name="adj"/>
            </a:avLst>
          </a:prstGeom>
          <a:noFill/>
          <a:ln/>
        </p:spPr>
        <p:txBody>
          <a:bodyPr anchor="t" bIns="38100" lIns="76200" rIns="762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FFFFFF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01</a:t>
            </a:r>
            <a:endParaRPr dirty="0" lang="en" sz="900"/>
          </a:p>
        </p:txBody>
      </p:sp>
      <p:sp>
        <p:nvSpPr>
          <p:cNvPr id="8" name="TextBox 54"/>
          <p:cNvSpPr/>
          <p:nvPr/>
        </p:nvSpPr>
        <p:spPr>
          <a:xfrm>
            <a:off x="1465659" y="2954089"/>
            <a:ext cx="1222177" cy="2667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The Data Gap</a:t>
            </a:r>
            <a:endParaRPr dirty="0" lang="en" sz="1500"/>
          </a:p>
        </p:txBody>
      </p:sp>
      <p:sp>
        <p:nvSpPr>
          <p:cNvPr id="9" name="TextBox 59"/>
          <p:cNvSpPr/>
          <p:nvPr/>
        </p:nvSpPr>
        <p:spPr>
          <a:xfrm>
            <a:off x="1076325" y="3373189"/>
            <a:ext cx="2724150" cy="731341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Aligning two completely different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datasets with inconsistent folder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structures and naming conventions.</a:t>
            </a:r>
            <a:endParaRPr dirty="0" lang="en" sz="1200"/>
          </a:p>
        </p:txBody>
      </p:sp>
      <p:sp>
        <p:nvSpPr>
          <p:cNvPr id="10" name="TextBox 62"/>
          <p:cNvSpPr/>
          <p:nvPr/>
        </p:nvSpPr>
        <p:spPr>
          <a:xfrm>
            <a:off x="1076325" y="5467350"/>
            <a:ext cx="2724150" cy="695325"/>
          </a:xfrm>
          <a:prstGeom prst="rect">
            <a:avLst/>
          </a:prstGeom>
          <a:noFill/>
          <a:ln/>
        </p:spPr>
        <p:txBody>
          <a:bodyPr anchor="t" bIns="0" lIns="0" rIns="0" rtlCol="0" tIns="228600" wrap="none"/>
          <a:lstStyle/>
          <a:p>
            <a:pPr algn="l" indent="0" marL="0">
              <a:lnSpc>
                <a:spcPts val="1350"/>
              </a:lnSpc>
              <a:buNone/>
            </a:pPr>
            <a:r>
              <a:rPr altLang="en-US" b="1" dirty="0" kern="0" lang="en" spc="-22" sz="9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SYSTEM CONSTRAINT: STRUCTURAL</a:t>
            </a:r>
            <a:endParaRPr dirty="0" lang="en" sz="900"/>
          </a:p>
          <a:p>
            <a:pPr algn="l" indent="0" marL="0">
              <a:lnSpc>
                <a:spcPts val="1350"/>
              </a:lnSpc>
              <a:buNone/>
            </a:pPr>
            <a:r>
              <a:rPr altLang="en-US" b="1" dirty="0" kern="0" lang="en" spc="-22" sz="9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INCONSISTENCY</a:t>
            </a:r>
            <a:endParaRPr dirty="0" lang="en" sz="900"/>
          </a:p>
        </p:txBody>
      </p:sp>
      <p:sp>
        <p:nvSpPr>
          <p:cNvPr id="11" name="TextBox 76"/>
          <p:cNvSpPr/>
          <p:nvPr/>
        </p:nvSpPr>
        <p:spPr>
          <a:xfrm>
            <a:off x="4733925" y="2963614"/>
            <a:ext cx="298698" cy="247650"/>
          </a:xfrm>
          <a:prstGeom prst="roundRect">
            <a:avLst>
              <a:gd fmla="val 15385" name="adj"/>
            </a:avLst>
          </a:prstGeom>
          <a:noFill/>
          <a:ln/>
        </p:spPr>
        <p:txBody>
          <a:bodyPr anchor="t" bIns="38100" lIns="76200" rIns="762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FFFFFF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02</a:t>
            </a:r>
            <a:endParaRPr dirty="0" lang="en" sz="900"/>
          </a:p>
        </p:txBody>
      </p:sp>
      <p:sp>
        <p:nvSpPr>
          <p:cNvPr id="12" name="TextBox 78"/>
          <p:cNvSpPr/>
          <p:nvPr/>
        </p:nvSpPr>
        <p:spPr>
          <a:xfrm>
            <a:off x="5146923" y="2954089"/>
            <a:ext cx="1873746" cy="2667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Software Traffic Jam</a:t>
            </a:r>
            <a:endParaRPr dirty="0" lang="en" sz="1500"/>
          </a:p>
        </p:txBody>
      </p:sp>
      <p:sp>
        <p:nvSpPr>
          <p:cNvPr id="13" name="TextBox 83"/>
          <p:cNvSpPr/>
          <p:nvPr/>
        </p:nvSpPr>
        <p:spPr>
          <a:xfrm>
            <a:off x="4733925" y="3373189"/>
            <a:ext cx="2724150" cy="731341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Optimizing the backend to process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images through two AI models and an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LLM in under 5 seconds.</a:t>
            </a:r>
            <a:endParaRPr dirty="0" lang="en" sz="1200"/>
          </a:p>
        </p:txBody>
      </p:sp>
      <p:sp>
        <p:nvSpPr>
          <p:cNvPr id="14" name="TextBox 87"/>
          <p:cNvSpPr/>
          <p:nvPr/>
        </p:nvSpPr>
        <p:spPr>
          <a:xfrm>
            <a:off x="4886325" y="4371231"/>
            <a:ext cx="2457450" cy="1714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Target Benchmark</a:t>
            </a:r>
            <a:endParaRPr dirty="0" lang="en" sz="900"/>
          </a:p>
        </p:txBody>
      </p:sp>
      <p:sp>
        <p:nvSpPr>
          <p:cNvPr id="15" name="TextBox 89"/>
          <p:cNvSpPr/>
          <p:nvPr/>
        </p:nvSpPr>
        <p:spPr>
          <a:xfrm>
            <a:off x="4886325" y="4609356"/>
            <a:ext cx="556171" cy="23812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&lt; 5.0s</a:t>
            </a:r>
            <a:endParaRPr dirty="0" lang="en" sz="1500"/>
          </a:p>
        </p:txBody>
      </p:sp>
      <p:sp>
        <p:nvSpPr>
          <p:cNvPr id="16" name="TextBox 93"/>
          <p:cNvSpPr/>
          <p:nvPr/>
        </p:nvSpPr>
        <p:spPr>
          <a:xfrm>
            <a:off x="4733925" y="5695950"/>
            <a:ext cx="2724150" cy="466725"/>
          </a:xfrm>
          <a:prstGeom prst="rect">
            <a:avLst/>
          </a:prstGeom>
          <a:noFill/>
          <a:ln/>
        </p:spPr>
        <p:txBody>
          <a:bodyPr anchor="t" bIns="0" lIns="0" rIns="0" rtlCol="0" tIns="2286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22" sz="9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PERFORMANCE THRESHOLD: LATENCY CAP</a:t>
            </a:r>
            <a:endParaRPr dirty="0" lang="en" sz="900"/>
          </a:p>
        </p:txBody>
      </p:sp>
      <p:sp>
        <p:nvSpPr>
          <p:cNvPr id="17" name="TextBox 107"/>
          <p:cNvSpPr/>
          <p:nvPr/>
        </p:nvSpPr>
        <p:spPr>
          <a:xfrm>
            <a:off x="8391525" y="2963614"/>
            <a:ext cx="301823" cy="247650"/>
          </a:xfrm>
          <a:prstGeom prst="roundRect">
            <a:avLst>
              <a:gd fmla="val 15385" name="adj"/>
            </a:avLst>
          </a:prstGeom>
          <a:noFill/>
          <a:ln/>
        </p:spPr>
        <p:txBody>
          <a:bodyPr anchor="t" bIns="38100" lIns="76200" rIns="762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FFFFFF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03</a:t>
            </a:r>
            <a:endParaRPr dirty="0" lang="en" sz="900"/>
          </a:p>
        </p:txBody>
      </p:sp>
      <p:sp>
        <p:nvSpPr>
          <p:cNvPr id="18" name="TextBox 109"/>
          <p:cNvSpPr/>
          <p:nvPr/>
        </p:nvSpPr>
        <p:spPr>
          <a:xfrm>
            <a:off x="8807648" y="2954089"/>
            <a:ext cx="1884462" cy="2667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Device Compatibility</a:t>
            </a:r>
            <a:endParaRPr dirty="0" lang="en" sz="1500"/>
          </a:p>
        </p:txBody>
      </p:sp>
      <p:sp>
        <p:nvSpPr>
          <p:cNvPr id="19" name="TextBox 114"/>
          <p:cNvSpPr/>
          <p:nvPr/>
        </p:nvSpPr>
        <p:spPr>
          <a:xfrm>
            <a:off x="8391525" y="3373189"/>
            <a:ext cx="2724150" cy="975122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Designing a UI that functions as a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high-density desktop dashboard but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remains a thumb-friendly mobile app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for field use.</a:t>
            </a:r>
            <a:endParaRPr dirty="0" lang="en" sz="1200"/>
          </a:p>
        </p:txBody>
      </p:sp>
      <p:sp>
        <p:nvSpPr>
          <p:cNvPr id="20" name="TextBox 117"/>
          <p:cNvSpPr/>
          <p:nvPr/>
        </p:nvSpPr>
        <p:spPr>
          <a:xfrm>
            <a:off x="8391525" y="5695950"/>
            <a:ext cx="2724150" cy="466725"/>
          </a:xfrm>
          <a:prstGeom prst="rect">
            <a:avLst/>
          </a:prstGeom>
          <a:noFill/>
          <a:ln/>
        </p:spPr>
        <p:txBody>
          <a:bodyPr anchor="t" bIns="0" lIns="0" rIns="0" rtlCol="0" tIns="2286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22" sz="9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UX REQUIREMENT: HYBRID PRECISION</a:t>
            </a:r>
            <a:endParaRPr dirty="0" lang="en" sz="9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descr="__type_image" id="3" name="Pictur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225" y="1724025"/>
            <a:ext cx="6045250" cy="4595813"/>
          </a:xfrm>
          <a:prstGeom prst="rect">
            <a:avLst/>
          </a:prstGeom>
        </p:spPr>
      </p:pic>
      <p:sp>
        <p:nvSpPr>
          <p:cNvPr id="4" name="TextBox 17"/>
          <p:cNvSpPr/>
          <p:nvPr/>
        </p:nvSpPr>
        <p:spPr>
          <a:xfrm>
            <a:off x="762000" y="538163"/>
            <a:ext cx="10668000" cy="166688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105" sz="105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HOW THE TECHNICAL ROADBLOCKS WERE SYSTEMATICALLY RESOLVED.</a:t>
            </a:r>
            <a:endParaRPr dirty="0" lang="en" sz="1050"/>
          </a:p>
        </p:txBody>
      </p:sp>
      <p:sp>
        <p:nvSpPr>
          <p:cNvPr id="5" name="TextBox 19"/>
          <p:cNvSpPr/>
          <p:nvPr/>
        </p:nvSpPr>
        <p:spPr>
          <a:xfrm>
            <a:off x="762000" y="747713"/>
            <a:ext cx="10668000" cy="4762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30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Solutions to Challenges</a:t>
            </a:r>
            <a:endParaRPr dirty="0" lang="en" sz="3000"/>
          </a:p>
        </p:txBody>
      </p:sp>
      <p:sp>
        <p:nvSpPr>
          <p:cNvPr id="6" name="TextBox 34"/>
          <p:cNvSpPr/>
          <p:nvPr/>
        </p:nvSpPr>
        <p:spPr>
          <a:xfrm>
            <a:off x="952500" y="1866900"/>
            <a:ext cx="3879800" cy="4953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5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Custom automation and responsive design ensure a</a:t>
            </a:r>
            <a:endParaRPr dirty="0" lang="en" sz="1200"/>
          </a:p>
          <a:p>
            <a:pPr algn="l" indent="0" marL="0">
              <a:lnSpc>
                <a:spcPts val="195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seamless user experience.</a:t>
            </a:r>
            <a:endParaRPr dirty="0" lang="en" sz="1200"/>
          </a:p>
        </p:txBody>
      </p:sp>
      <p:sp>
        <p:nvSpPr>
          <p:cNvPr id="7" name="TextBox 51"/>
          <p:cNvSpPr/>
          <p:nvPr/>
        </p:nvSpPr>
        <p:spPr>
          <a:xfrm>
            <a:off x="1381125" y="2914650"/>
            <a:ext cx="1269504" cy="2857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Data Mapping</a:t>
            </a:r>
            <a:endParaRPr dirty="0" lang="en" sz="1500"/>
          </a:p>
        </p:txBody>
      </p:sp>
      <p:sp>
        <p:nvSpPr>
          <p:cNvPr id="8" name="TextBox 54"/>
          <p:cNvSpPr/>
          <p:nvPr/>
        </p:nvSpPr>
        <p:spPr>
          <a:xfrm>
            <a:off x="962025" y="3286125"/>
            <a:ext cx="3822650" cy="4333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Developed custom Python scripts to map and merge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disparate datasets automatically, ensuring data integrity.</a:t>
            </a:r>
            <a:endParaRPr dirty="0" lang="en" sz="1050"/>
          </a:p>
        </p:txBody>
      </p:sp>
      <p:sp>
        <p:nvSpPr>
          <p:cNvPr id="9" name="TextBox 69"/>
          <p:cNvSpPr/>
          <p:nvPr/>
        </p:nvSpPr>
        <p:spPr>
          <a:xfrm>
            <a:off x="1381125" y="4281487"/>
            <a:ext cx="1180356" cy="2857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Performance</a:t>
            </a:r>
            <a:endParaRPr dirty="0" lang="en" sz="1500"/>
          </a:p>
        </p:txBody>
      </p:sp>
      <p:sp>
        <p:nvSpPr>
          <p:cNvPr id="10" name="TextBox 72"/>
          <p:cNvSpPr/>
          <p:nvPr/>
        </p:nvSpPr>
        <p:spPr>
          <a:xfrm>
            <a:off x="962025" y="4652962"/>
            <a:ext cx="3822650" cy="4333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Leveraged FastAPI and an optimized preprocessing pipeline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to meet the strict 5-second response target.</a:t>
            </a:r>
            <a:endParaRPr dirty="0" lang="en" sz="1050"/>
          </a:p>
        </p:txBody>
      </p:sp>
      <p:sp>
        <p:nvSpPr>
          <p:cNvPr id="11" name="TextBox 87"/>
          <p:cNvSpPr/>
          <p:nvPr/>
        </p:nvSpPr>
        <p:spPr>
          <a:xfrm>
            <a:off x="1381125" y="5648325"/>
            <a:ext cx="1389459" cy="2857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3A34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UI/UX Strategy</a:t>
            </a:r>
            <a:endParaRPr dirty="0" lang="en" sz="1500"/>
          </a:p>
        </p:txBody>
      </p:sp>
      <p:sp>
        <p:nvSpPr>
          <p:cNvPr id="12" name="TextBox 90"/>
          <p:cNvSpPr/>
          <p:nvPr/>
        </p:nvSpPr>
        <p:spPr>
          <a:xfrm>
            <a:off x="962025" y="6019800"/>
            <a:ext cx="3822650" cy="4333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Built a PWA with a dynamic sidebar and PDF export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functionality for field-ready utility.</a:t>
            </a:r>
            <a:endParaRPr dirty="0" lang="en" sz="1050"/>
          </a:p>
        </p:txBody>
      </p:sp>
      <p:sp>
        <p:nvSpPr>
          <p:cNvPr id="13" name="TextBox 111"/>
          <p:cNvSpPr/>
          <p:nvPr/>
        </p:nvSpPr>
        <p:spPr>
          <a:xfrm>
            <a:off x="5527625" y="1876425"/>
            <a:ext cx="1279178" cy="219075"/>
          </a:xfrm>
          <a:prstGeom prst="roundRect">
            <a:avLst>
              <a:gd fmla="val 17391" name="adj"/>
            </a:avLst>
          </a:prstGeom>
          <a:noFill/>
          <a:ln/>
        </p:spPr>
        <p:txBody>
          <a:bodyPr anchor="t" bIns="38100" lIns="114300" rIns="1143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37" sz="750">
                <a:solidFill>
                  <a:srgbClr val="FFFFFF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DESKTOP DEPLOYMENT</a:t>
            </a:r>
            <a:endParaRPr dirty="0" lang="en" sz="750"/>
          </a:p>
        </p:txBody>
      </p:sp>
      <p:sp>
        <p:nvSpPr>
          <p:cNvPr id="14" name="TextBox 116"/>
          <p:cNvSpPr/>
          <p:nvPr/>
        </p:nvSpPr>
        <p:spPr>
          <a:xfrm>
            <a:off x="9974163" y="5948363"/>
            <a:ext cx="1293912" cy="219075"/>
          </a:xfrm>
          <a:prstGeom prst="roundRect">
            <a:avLst>
              <a:gd fmla="val 17391" name="adj"/>
            </a:avLst>
          </a:prstGeom>
          <a:noFill/>
          <a:ln/>
        </p:spPr>
        <p:txBody>
          <a:bodyPr anchor="t" bIns="38100" lIns="114300" rIns="1143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37" sz="750">
                <a:solidFill>
                  <a:srgbClr val="FFFFFF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MOBILE PWA RESPONSE</a:t>
            </a:r>
            <a:endParaRPr dirty="0" lang="en" sz="750"/>
          </a:p>
        </p:txBody>
      </p:sp>
      <p:sp>
        <p:nvSpPr>
          <p:cNvPr id="15" name="TextBox 129"/>
          <p:cNvSpPr/>
          <p:nvPr/>
        </p:nvSpPr>
        <p:spPr>
          <a:xfrm>
            <a:off x="5594300" y="6481762"/>
            <a:ext cx="1487686" cy="1714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45" sz="9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INTERFACE DIAGNOSTIC</a:t>
            </a:r>
            <a:endParaRPr dirty="0" lang="en" sz="900"/>
          </a:p>
        </p:txBody>
      </p:sp>
      <p:sp>
        <p:nvSpPr>
          <p:cNvPr id="16" name="TextBox 132"/>
          <p:cNvSpPr/>
          <p:nvPr/>
        </p:nvSpPr>
        <p:spPr>
          <a:xfrm>
            <a:off x="8530530" y="6481762"/>
            <a:ext cx="2823270" cy="1714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i="1" lang="en" sz="900">
                <a:solidFill>
                  <a:srgbClr val="64748B"/>
                </a:solidFill>
                <a:latin charset="0" pitchFamily="34" typeface="Public Sans Thin"/>
                <a:ea charset="-122" pitchFamily="34" typeface="Public Sans Thin"/>
                <a:cs charset="-120" pitchFamily="34" typeface="Public Sans Thin"/>
              </a:rPr>
              <a:t>Side-by-side comparison: Responsive Framework v1.0</a:t>
            </a:r>
            <a:endParaRPr dirty="0" lang="en" sz="9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7"/>
          <p:cNvSpPr/>
          <p:nvPr/>
        </p:nvSpPr>
        <p:spPr>
          <a:xfrm>
            <a:off x="762000" y="347663"/>
            <a:ext cx="10668000" cy="166688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210" sz="105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ROADMAP</a:t>
            </a:r>
            <a:endParaRPr dirty="0" lang="en" sz="1050"/>
          </a:p>
        </p:txBody>
      </p:sp>
      <p:sp>
        <p:nvSpPr>
          <p:cNvPr id="4" name="TextBox 19"/>
          <p:cNvSpPr/>
          <p:nvPr/>
        </p:nvSpPr>
        <p:spPr>
          <a:xfrm>
            <a:off x="762000" y="557213"/>
            <a:ext cx="10668000" cy="4762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30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Future Work</a:t>
            </a:r>
            <a:endParaRPr dirty="0" lang="en" sz="3000"/>
          </a:p>
        </p:txBody>
      </p:sp>
      <p:sp>
        <p:nvSpPr>
          <p:cNvPr id="5" name="TextBox 30"/>
          <p:cNvSpPr/>
          <p:nvPr/>
        </p:nvSpPr>
        <p:spPr>
          <a:xfrm>
            <a:off x="762000" y="1714500"/>
            <a:ext cx="7315200" cy="731341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2880"/>
              </a:lnSpc>
              <a:buNone/>
            </a:pPr>
            <a:r>
              <a:rPr altLang="en-US" b="1" dirty="0" lang="en" sz="24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Expanding intelligence and accessibility for global</a:t>
            </a:r>
            <a:endParaRPr dirty="0" lang="en" sz="2400"/>
          </a:p>
          <a:p>
            <a:pPr algn="l" indent="0" marL="0">
              <a:lnSpc>
                <a:spcPts val="2880"/>
              </a:lnSpc>
              <a:buNone/>
            </a:pPr>
            <a:r>
              <a:rPr altLang="en-US" b="1" dirty="0" lang="en" sz="24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impact.</a:t>
            </a:r>
            <a:endParaRPr dirty="0" lang="en" sz="2400"/>
          </a:p>
        </p:txBody>
      </p:sp>
      <p:sp>
        <p:nvSpPr>
          <p:cNvPr id="6" name="TextBox 32"/>
          <p:cNvSpPr/>
          <p:nvPr/>
        </p:nvSpPr>
        <p:spPr>
          <a:xfrm>
            <a:off x="762000" y="2522041"/>
            <a:ext cx="7315200" cy="2286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20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The strategic roadmap for upcoming features and platform enhancements.</a:t>
            </a:r>
            <a:endParaRPr dirty="0" lang="en" sz="1200"/>
          </a:p>
        </p:txBody>
      </p:sp>
      <p:sp>
        <p:nvSpPr>
          <p:cNvPr id="7" name="TextBox 50"/>
          <p:cNvSpPr/>
          <p:nvPr/>
        </p:nvSpPr>
        <p:spPr>
          <a:xfrm>
            <a:off x="1076325" y="4094262"/>
            <a:ext cx="2724150" cy="297061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8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Weather Intelligence</a:t>
            </a:r>
            <a:endParaRPr dirty="0" lang="en" sz="1800"/>
          </a:p>
        </p:txBody>
      </p:sp>
      <p:sp>
        <p:nvSpPr>
          <p:cNvPr id="8" name="TextBox 52"/>
          <p:cNvSpPr/>
          <p:nvPr/>
        </p:nvSpPr>
        <p:spPr>
          <a:xfrm>
            <a:off x="1076325" y="4543723"/>
            <a:ext cx="2724150" cy="1218902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Integrating real-time weather APIs to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provide predictive diagnostics,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warning farmers against chemical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application if rain is imminent to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ensure efficacy and reduce waste.</a:t>
            </a:r>
            <a:endParaRPr dirty="0" lang="en" sz="1200"/>
          </a:p>
        </p:txBody>
      </p:sp>
      <p:sp>
        <p:nvSpPr>
          <p:cNvPr id="9" name="TextBox 58"/>
          <p:cNvSpPr/>
          <p:nvPr/>
        </p:nvSpPr>
        <p:spPr>
          <a:xfrm>
            <a:off x="1228725" y="5991225"/>
            <a:ext cx="1289149" cy="1714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45" sz="90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DEVELOPMENT PHASE</a:t>
            </a:r>
            <a:endParaRPr dirty="0" lang="en" sz="900"/>
          </a:p>
        </p:txBody>
      </p:sp>
      <p:sp>
        <p:nvSpPr>
          <p:cNvPr id="10" name="TextBox 73"/>
          <p:cNvSpPr/>
          <p:nvPr/>
        </p:nvSpPr>
        <p:spPr>
          <a:xfrm>
            <a:off x="4733925" y="4094262"/>
            <a:ext cx="2724150" cy="297061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8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Offline Mode</a:t>
            </a:r>
            <a:endParaRPr dirty="0" lang="en" sz="1800"/>
          </a:p>
        </p:txBody>
      </p:sp>
      <p:sp>
        <p:nvSpPr>
          <p:cNvPr id="11" name="TextBox 75"/>
          <p:cNvSpPr/>
          <p:nvPr/>
        </p:nvSpPr>
        <p:spPr>
          <a:xfrm>
            <a:off x="4733925" y="4543723"/>
            <a:ext cx="2724150" cy="1218902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Developing advanced local caching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and edge-inference capabilities,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allowing the diagnostic engine to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function seamlessly in remote fields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without active internet connectivity.</a:t>
            </a:r>
            <a:endParaRPr dirty="0" lang="en" sz="1200"/>
          </a:p>
        </p:txBody>
      </p:sp>
      <p:sp>
        <p:nvSpPr>
          <p:cNvPr id="12" name="TextBox 81"/>
          <p:cNvSpPr/>
          <p:nvPr/>
        </p:nvSpPr>
        <p:spPr>
          <a:xfrm>
            <a:off x="4886325" y="5991225"/>
            <a:ext cx="1371898" cy="1714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45" sz="90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ARCHITECTURE DESIGN</a:t>
            </a:r>
            <a:endParaRPr dirty="0" lang="en" sz="900"/>
          </a:p>
        </p:txBody>
      </p:sp>
      <p:sp>
        <p:nvSpPr>
          <p:cNvPr id="13" name="TextBox 96"/>
          <p:cNvSpPr/>
          <p:nvPr/>
        </p:nvSpPr>
        <p:spPr>
          <a:xfrm>
            <a:off x="8391525" y="4094262"/>
            <a:ext cx="2724150" cy="297061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800">
                <a:solidFill>
                  <a:srgbClr val="1E3A34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Dataset Expansion</a:t>
            </a:r>
            <a:endParaRPr dirty="0" lang="en" sz="1800"/>
          </a:p>
        </p:txBody>
      </p:sp>
      <p:sp>
        <p:nvSpPr>
          <p:cNvPr id="14" name="TextBox 98"/>
          <p:cNvSpPr/>
          <p:nvPr/>
        </p:nvSpPr>
        <p:spPr>
          <a:xfrm>
            <a:off x="8391525" y="4543723"/>
            <a:ext cx="2724150" cy="1218902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Continuous scaling of the agricultural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database to incorporate over 50 new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crop varieties and 200+ disease types,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broadening the app's utility for global</a:t>
            </a:r>
            <a:endParaRPr dirty="0" lang="en" sz="1200"/>
          </a:p>
          <a:p>
            <a:pPr algn="l" indent="0" marL="0">
              <a:lnSpc>
                <a:spcPts val="1920"/>
              </a:lnSpc>
              <a:buNone/>
            </a:pPr>
            <a:r>
              <a:rPr altLang="en-US" dirty="0" lang="en" sz="1200">
                <a:solidFill>
                  <a:srgbClr val="0F172A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smallholder farmers.</a:t>
            </a:r>
            <a:endParaRPr dirty="0" lang="en" sz="1200"/>
          </a:p>
        </p:txBody>
      </p:sp>
      <p:sp>
        <p:nvSpPr>
          <p:cNvPr id="15" name="TextBox 104"/>
          <p:cNvSpPr/>
          <p:nvPr/>
        </p:nvSpPr>
        <p:spPr>
          <a:xfrm>
            <a:off x="8543925" y="5991225"/>
            <a:ext cx="1097607" cy="1714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45" sz="900">
                <a:solidFill>
                  <a:srgbClr val="64748B"/>
                </a:solidFill>
                <a:latin charset="0" pitchFamily="34" typeface="+mn-ea"/>
                <a:ea charset="-122" pitchFamily="34" typeface="+mn-ea"/>
                <a:cs charset="-120" pitchFamily="34" typeface="+mn-ea"/>
              </a:rPr>
              <a:t>DATA ACQUISITION</a:t>
            </a:r>
            <a:endParaRPr dirty="0" lang="en" sz="9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45"/>
          <p:cNvSpPr/>
          <p:nvPr/>
        </p:nvSpPr>
        <p:spPr>
          <a:xfrm>
            <a:off x="4280743" y="1643062"/>
            <a:ext cx="3821013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kern="0" lang="ja" spc="420" sz="1050">
                <a:solidFill>
                  <a:srgbClr val="F59E0B">
                    <a:alpha val="80000"/>
                  </a:srgbClr>
                </a:solidFill>
                <a:latin charset="0" pitchFamily="34" typeface="Meiryo UI"/>
                <a:ea charset="-122" pitchFamily="34" typeface="Meiryo UI"/>
                <a:cs charset="-120" pitchFamily="34" typeface="Meiryo UI"/>
              </a:rPr>
              <a:t>SYSTEM DIAGNOSTIC: COMPLETE</a:t>
            </a:r>
            <a:endParaRPr dirty="0" lang="ja" sz="1050"/>
          </a:p>
        </p:txBody>
      </p:sp>
      <p:sp>
        <p:nvSpPr>
          <p:cNvPr id="4" name="TextBox 52"/>
          <p:cNvSpPr/>
          <p:nvPr/>
        </p:nvSpPr>
        <p:spPr>
          <a:xfrm>
            <a:off x="2307729" y="2138363"/>
            <a:ext cx="7576393" cy="142875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kern="0" lang="ja" spc="-450" sz="9000">
                <a:solidFill>
                  <a:srgbClr val="FFFFFF"/>
                </a:solidFill>
                <a:latin charset="0" pitchFamily="34" typeface="Meiryo UI"/>
                <a:ea charset="-122" pitchFamily="34" typeface="Meiryo UI"/>
                <a:cs charset="-120" pitchFamily="34" typeface="Meiryo UI"/>
              </a:rPr>
              <a:t>CONCLUSION</a:t>
            </a:r>
            <a:endParaRPr dirty="0" lang="ja" sz="9000"/>
          </a:p>
        </p:txBody>
      </p:sp>
      <p:sp>
        <p:nvSpPr>
          <p:cNvPr id="5" name="TextBox 58"/>
          <p:cNvSpPr/>
          <p:nvPr/>
        </p:nvSpPr>
        <p:spPr>
          <a:xfrm>
            <a:off x="5308550" y="3262312"/>
            <a:ext cx="1574602" cy="571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i="1" kern="0" lang="ja" spc="-90" sz="3600">
                <a:solidFill>
                  <a:srgbClr val="F59E0B"/>
                </a:solidFill>
                <a:latin charset="0" pitchFamily="34" typeface="Meiryo UI"/>
                <a:ea charset="-122" pitchFamily="34" typeface="Meiryo UI"/>
                <a:cs charset="-120" pitchFamily="34" typeface="Meiryo UI"/>
              </a:rPr>
              <a:t>&amp; Q&amp;A</a:t>
            </a:r>
            <a:endParaRPr dirty="0" lang="ja" sz="3600"/>
          </a:p>
        </p:txBody>
      </p:sp>
      <p:sp>
        <p:nvSpPr>
          <p:cNvPr id="6" name="TextBox 68"/>
          <p:cNvSpPr/>
          <p:nvPr/>
        </p:nvSpPr>
        <p:spPr>
          <a:xfrm>
            <a:off x="2988320" y="4329113"/>
            <a:ext cx="6215360" cy="3714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dirty="0" kern="0" lang="ja" spc="45" sz="1800">
                <a:solidFill>
                  <a:srgbClr val="FFFFFF">
                    <a:alpha val="90000"/>
                  </a:srgbClr>
                </a:solidFill>
                <a:latin charset="0" pitchFamily="34" typeface="Meiryo UI"/>
                <a:ea charset="-122" pitchFamily="34" typeface="Meiryo UI"/>
                <a:cs charset="-120" pitchFamily="34" typeface="Meiryo UI"/>
              </a:rPr>
              <a:t>Bridging the gap between AI and real-world farming.</a:t>
            </a:r>
            <a:endParaRPr dirty="0" lang="ja" sz="1800"/>
          </a:p>
        </p:txBody>
      </p:sp>
      <p:sp>
        <p:nvSpPr>
          <p:cNvPr id="7" name="TextBox 72"/>
          <p:cNvSpPr/>
          <p:nvPr/>
        </p:nvSpPr>
        <p:spPr>
          <a:xfrm>
            <a:off x="3615184" y="4938712"/>
            <a:ext cx="4961483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kern="0" lang="ja" spc="105" sz="1050">
                <a:solidFill>
                  <a:srgbClr val="F59E0B">
                    <a:alpha val="90000"/>
                  </a:srgbClr>
                </a:solidFill>
                <a:latin charset="0" pitchFamily="34" typeface="Meiryo UI"/>
                <a:ea charset="-122" pitchFamily="34" typeface="Meiryo UI"/>
                <a:cs charset="-120" pitchFamily="34" typeface="Meiryo UI"/>
              </a:rPr>
              <a:t>THANK YOU FOR YOUR ATTENTION. LIVE DEMO TO FOLLOW.</a:t>
            </a:r>
            <a:endParaRPr dirty="0" lang="ja" sz="1050"/>
          </a:p>
        </p:txBody>
      </p:sp>
      <p:sp>
        <p:nvSpPr>
          <p:cNvPr id="8" name="TextBox 81"/>
          <p:cNvSpPr/>
          <p:nvPr/>
        </p:nvSpPr>
        <p:spPr>
          <a:xfrm>
            <a:off x="914400" y="6257925"/>
            <a:ext cx="2838004" cy="1428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ja" spc="150" sz="750">
                <a:solidFill>
                  <a:srgbClr val="FFFFFF">
                    <a:alpha val="40000"/>
                  </a:srgbClr>
                </a:solidFill>
                <a:latin charset="0" pitchFamily="34" typeface="Meiryo UI"/>
                <a:ea charset="-122" pitchFamily="34" typeface="Meiryo UI"/>
                <a:cs charset="-120" pitchFamily="34" typeface="Meiryo UI"/>
              </a:rPr>
              <a:t>AGRO-PRECISION FIELDKIT // VER. 4.0.2</a:t>
            </a:r>
            <a:endParaRPr dirty="0" lang="ja" sz="750"/>
          </a:p>
        </p:txBody>
      </p:sp>
      <p:sp>
        <p:nvSpPr>
          <p:cNvPr id="9" name="TextBox 83"/>
          <p:cNvSpPr/>
          <p:nvPr/>
        </p:nvSpPr>
        <p:spPr>
          <a:xfrm>
            <a:off x="8489752" y="6257925"/>
            <a:ext cx="2787848" cy="1428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altLang="en-US" b="1" dirty="0" kern="0" lang="ja" spc="150" sz="750">
                <a:solidFill>
                  <a:srgbClr val="FFFFFF">
                    <a:alpha val="40000"/>
                  </a:srgbClr>
                </a:solidFill>
                <a:latin charset="0" pitchFamily="34" typeface="Meiryo UI"/>
                <a:ea charset="-122" pitchFamily="34" typeface="Meiryo UI"/>
                <a:cs charset="-120" pitchFamily="34" typeface="Meiryo UI"/>
              </a:rPr>
              <a:t>TERMINAL REFERENCE: FINAL_PHASE_04</a:t>
            </a:r>
            <a:endParaRPr dirty="0" lang="ja" sz="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2026-10-18T06:21:15Z</dcterms:created>
  <dc:creator>PptxGenJS</dc:creator>
  <cp:lastModifiedBy>PptxGenJS</cp:lastModifiedBy>
  <dcterms:modified xsi:type="dcterms:W3CDTF">2026-10-18T06:21:15Z</dcterms:modified>
  <cp:revision>1</cp:revision>
  <dc:subject>PptxGenJS Presentation</dc:subject>
  <dc:title>PptxGenJS Presentation</dc:title>
</cp:coreProperties>
</file>